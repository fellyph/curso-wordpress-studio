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10287000" cx="18288000"/>
  <p:notesSz cx="10287000" cy="18288000"/>
  <p:embeddedFontLst>
    <p:embeddedFont>
      <p:font typeface="Inter"/>
      <p:regular r:id="rId43"/>
      <p:bold r:id="rId44"/>
      <p:italic r:id="rId45"/>
      <p:boldItalic r:id="rId46"/>
    </p:embeddedFont>
    <p:embeddedFont>
      <p:font typeface="Inter Tight"/>
      <p:regular r:id="rId47"/>
      <p:bold r:id="rId48"/>
      <p:italic r:id="rId49"/>
      <p:boldItalic r:id="rId50"/>
    </p:embeddedFont>
    <p:embeddedFont>
      <p:font typeface="Roboto Mono"/>
      <p:regular r:id="rId51"/>
      <p:bold r:id="rId52"/>
      <p:italic r:id="rId53"/>
      <p:boldItalic r:id="rId54"/>
    </p:embeddedFont>
    <p:embeddedFont>
      <p:font typeface="Inter Tight SemiBold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Inter-bold.fntdata"/><Relationship Id="rId43" Type="http://schemas.openxmlformats.org/officeDocument/2006/relationships/font" Target="fonts/Inter-regular.fntdata"/><Relationship Id="rId46" Type="http://schemas.openxmlformats.org/officeDocument/2006/relationships/font" Target="fonts/Inter-boldItalic.fntdata"/><Relationship Id="rId45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InterTight-bold.fntdata"/><Relationship Id="rId47" Type="http://schemas.openxmlformats.org/officeDocument/2006/relationships/font" Target="fonts/InterTight-regular.fntdata"/><Relationship Id="rId49" Type="http://schemas.openxmlformats.org/officeDocument/2006/relationships/font" Target="fonts/InterTigh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RobotoMono-regular.fntdata"/><Relationship Id="rId50" Type="http://schemas.openxmlformats.org/officeDocument/2006/relationships/font" Target="fonts/InterTight-boldItalic.fntdata"/><Relationship Id="rId53" Type="http://schemas.openxmlformats.org/officeDocument/2006/relationships/font" Target="fonts/RobotoMono-italic.fntdata"/><Relationship Id="rId52" Type="http://schemas.openxmlformats.org/officeDocument/2006/relationships/font" Target="fonts/RobotoMono-bold.fntdata"/><Relationship Id="rId11" Type="http://schemas.openxmlformats.org/officeDocument/2006/relationships/slide" Target="slides/slide7.xml"/><Relationship Id="rId55" Type="http://schemas.openxmlformats.org/officeDocument/2006/relationships/font" Target="fonts/InterTightSemiBold-regular.fntdata"/><Relationship Id="rId10" Type="http://schemas.openxmlformats.org/officeDocument/2006/relationships/slide" Target="slides/slide6.xml"/><Relationship Id="rId54" Type="http://schemas.openxmlformats.org/officeDocument/2006/relationships/font" Target="fonts/RobotoMono-boldItalic.fntdata"/><Relationship Id="rId13" Type="http://schemas.openxmlformats.org/officeDocument/2006/relationships/slide" Target="slides/slide9.xml"/><Relationship Id="rId57" Type="http://schemas.openxmlformats.org/officeDocument/2006/relationships/font" Target="fonts/InterTightSemiBold-italic.fntdata"/><Relationship Id="rId12" Type="http://schemas.openxmlformats.org/officeDocument/2006/relationships/slide" Target="slides/slide8.xml"/><Relationship Id="rId56" Type="http://schemas.openxmlformats.org/officeDocument/2006/relationships/font" Target="fonts/InterTightSemiBold-bold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58" Type="http://schemas.openxmlformats.org/officeDocument/2006/relationships/font" Target="fonts/InterTightSemiBold-bold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Boas-vindas. Diga que ninguém vai ouvir teoria sobre domínio e hospedagem: vamos construir um projeto real de agência do brief ao deploy.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Leia os quatro entregáveis. Deixe claro que na versão de 4 horas landing page, plugin, Liberate e MCP são demos guiadas — o que cada dupla executa é criação local, Annotate, Preview e leitura do plano de Sync.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Combine os horários reais e os intervalos. Avise que os blocos marcados como demo guiada são acompanhados, não executados por todos.</a:t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Formar duplas agora. Explique que o limite mensal do Studio Code é compartilhado na conta e que a dupla existe para revisão mútua, não só para economizar.</a:t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AO VIVO. Abrir o projeto final no Studio, pedir ao Studio Code para explicar a estrutura, rodar /annotate com duas mudanças no hero, aplicar e revisar o diff, atualizar o Preview existente e mostrar a barra do plugin. Máximo 20 minutos. Não ensine comandos agora.</a:t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é o único slide conceitual do dia. Cada caixa é uma ferramenta que aparecerá em uso mais tarde. Não se demore.</a:t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Blueprint é um JSON no mesmo formato do WordPress Playground: portátil e compartilhável. No workshop todos criam o site a partir do mesmo Blueprint, então ninguém começa com um ambiente diferente. O Blueprint Development já traz Query Monitor, Plugin Check, Theme Check e Create Block Theme.</a:t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fronteira mais importante do dia: nada sai do local sem Preview, Sync ou Publish explícito. Annotate, plugin e debug acontecem todos à esquerda.</a:t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Skill é um arquivo SKILL.md que o agente lê antes de começar. O Studio instala em .agents/skills/ e cria o symlink em .claude/skills. Instale em Settings → Skills globalmente, ou pelo modal Edit site → Overview por site. Para este workshop: Block Themes e Plugin Development.</a:t>
            </a:r>
            <a:endParaRPr/>
          </a:p>
        </p:txBody>
      </p:sp>
      <p:sp>
        <p:nvSpPr>
          <p:cNvPr id="189" name="Google Shape;18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CLI funciona com o Studio aberto ou fechado. Habilite em Settings → Studio CLI, ou instale via installer ou npm install -g wp-studio. É por aqui que o agente cria sites, roda WP-CLI e atualiza previews sem sair do terminal.</a:t>
            </a:r>
            <a:endParaRPr/>
          </a:p>
        </p:txBody>
      </p:sp>
      <p:sp>
        <p:nvSpPr>
          <p:cNvPr id="218" name="Google Shape;21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Não decore nomes de modelos: a lista muda rápido. Confira o picker na véspera do evento e atualize só este slide se precisar.</a:t>
            </a:r>
            <a:endParaRPr/>
          </a:p>
        </p:txBody>
      </p:sp>
      <p:sp>
        <p:nvSpPr>
          <p:cNvPr id="236" name="Google Shape;23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Apresente o cliente. Todos os módulos usam este brief para que nada pareça exercício solto. Entregue o brand brief e os assets agora.</a:t>
            </a:r>
            <a:endParaRPr/>
          </a:p>
        </p:txBody>
      </p:sp>
      <p:sp>
        <p:nvSpPr>
          <p:cNvPr id="255" name="Google Shape;25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escopo é pequeno de propósito: cabe no workshop e ainda permite discutir especificação, hooks, Settings API, segurança e deploy seletivo de um único plugin.</a:t>
            </a:r>
            <a:endParaRPr/>
          </a:p>
        </p:txBody>
      </p:sp>
      <p:sp>
        <p:nvSpPr>
          <p:cNvPr id="281" name="Google Shape;28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guiada. Gere a referência visual com Claude Design a partir do brief, anexe ao Studio Code e peça uma implementação WordPress nativa. Peça o plano antes do código.</a:t>
            </a:r>
            <a:endParaRPr/>
          </a:p>
        </p:txBody>
      </p:sp>
      <p:sp>
        <p:nvSpPr>
          <p:cNvPr id="299" name="Google Shape;29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texto integral do prompt está no handout. Aqui o que importa é a estrutura: contexto, restrições técnicas, escopo, critérios de qualidade e a trava final — não implemente antes da aprovação.</a:t>
            </a:r>
            <a:endParaRPr/>
          </a:p>
        </p:txBody>
      </p:sp>
      <p:sp>
        <p:nvSpPr>
          <p:cNvPr id="309" name="Google Shape;30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Passe pelas duplas com esta lista. Se o CTA exigir scroll em desktop ou as cores estiverem hard-coded, o agente não terminou o trabalho.</a:t>
            </a:r>
            <a:endParaRPr/>
          </a:p>
        </p:txBody>
      </p:sp>
      <p:sp>
        <p:nvSpPr>
          <p:cNvPr id="330" name="Google Shape;33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Annotate transforma feedback visual em pedidos concretos. Explique que ele altera o site local e nada mais.</a:t>
            </a:r>
            <a:endParaRPr/>
          </a:p>
        </p:txBody>
      </p:sp>
      <p:sp>
        <p:nvSpPr>
          <p:cNvPr id="349" name="Google Shape;34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 minutos. Circule cobrando pedidos específicos: espaçamento, contraste, copy. Feedback vago produz mudança vaga.</a:t>
            </a:r>
            <a:endParaRPr/>
          </a:p>
        </p:txBody>
      </p:sp>
      <p:sp>
        <p:nvSpPr>
          <p:cNvPr id="359" name="Google Shape;35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guiada. O primeiro pedido não é 'crie o plugin', é 'me entreviste e proponha a especificação'. Depois: ativar via WP-CLI, configurar, testar front e admin, Plugin Check e revisão de segurança em conversa nova.</a:t>
            </a:r>
            <a:endParaRPr/>
          </a:p>
        </p:txBody>
      </p:sp>
      <p:sp>
        <p:nvSpPr>
          <p:cNvPr id="389" name="Google Shape;38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guiada. Ative WP_DEBUG_LOG, introduza um erro controlado no plugin, peça a causa em wp-content/debug.log, corrija, reteste e explique a causa raiz. Depois /need-for-speed e, se existir no build, /rank-me-up.</a:t>
            </a:r>
            <a:endParaRPr/>
          </a:p>
        </p:txBody>
      </p:sp>
      <p:sp>
        <p:nvSpPr>
          <p:cNvPr id="410" name="Google Shape;41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Preview é a peça que muda a relação com o cliente: um snapshot compartilhável sem hospedagem nova.</a:t>
            </a:r>
            <a:endParaRPr/>
          </a:p>
        </p:txBody>
      </p:sp>
      <p:sp>
        <p:nvSpPr>
          <p:cNvPr id="430" name="Google Shape;430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minutos. Cada dupla troca a URL com outra dupla e recebe dois comentários objetivos. Corrigem localmente e usam Update para substituir o snapshot.</a:t>
            </a:r>
            <a:endParaRPr/>
          </a:p>
        </p:txBody>
      </p:sp>
      <p:sp>
        <p:nvSpPr>
          <p:cNvPr id="440" name="Google Shape;44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Diga com clareza: a URL é pública. Nunca coloque dados reais de cliente num Preview. Use .deployignore.</a:t>
            </a:r>
            <a:endParaRPr/>
          </a:p>
        </p:txBody>
      </p:sp>
      <p:sp>
        <p:nvSpPr>
          <p:cNvPr id="466" name="Google Shape;46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guiada. O bloco mais sensível do workshop: aqui é onde uma agência perde dados de cliente.</a:t>
            </a:r>
            <a:endParaRPr/>
          </a:p>
        </p:txBody>
      </p:sp>
      <p:sp>
        <p:nvSpPr>
          <p:cNvPr id="486" name="Google Shape;48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Pare aqui. Peça que alguém repita a frase em voz alta. É a regra que evita o pior acidente do fluxo.</a:t>
            </a:r>
            <a:endParaRPr/>
          </a:p>
        </p:txBody>
      </p:sp>
      <p:sp>
        <p:nvSpPr>
          <p:cNvPr id="496" name="Google Shape;49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Mostre a opção de database e cancele-a na frente de todos. Depois confirme o Push só do componente alterado e confira o backup gerado antes do Sync.</a:t>
            </a:r>
            <a:endParaRPr/>
          </a:p>
        </p:txBody>
      </p:sp>
      <p:sp>
        <p:nvSpPr>
          <p:cNvPr id="506" name="Google Shape;50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exemplo do WooCommerce é o que faz o público prestar atenção: pedidos e clientes criados depois do último Pull desaparecem.</a:t>
            </a:r>
            <a:endParaRPr/>
          </a:p>
        </p:txBody>
      </p:sp>
      <p:sp>
        <p:nvSpPr>
          <p:cNvPr id="540" name="Google Shape;54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 minutos. Cada dupla escreve o plano de Sync do próprio projeto: o que sobe, o que nunca sobe, quem aprova. Duas duplas leem em voz alta.</a:t>
            </a:r>
            <a:endParaRPr/>
          </a:p>
        </p:txBody>
      </p:sp>
      <p:sp>
        <p:nvSpPr>
          <p:cNvPr id="557" name="Google Shape;55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guiada e ensaiada na mesma versão do evento. Liberate entrou no 1.14 e melhorou no 1.15; a documentação ainda não cobre todo o fluxo. Tenha um resultado pré-gerado como fallback.</a:t>
            </a:r>
            <a:endParaRPr/>
          </a:p>
        </p:txBody>
      </p:sp>
      <p:sp>
        <p:nvSpPr>
          <p:cNvPr id="578" name="Google Shape;57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Demo guiada. Diferencie os dois servidores antes de qualquer coisa: Studio MCP controla ambientes locais; o MCP do WordPress.com atua em sites remotos da conta. Comece read-only, libere só Content Authoring write, crie como draft, confira _content_warnings e revogue a conexão no fim.</a:t>
            </a:r>
            <a:endParaRPr/>
          </a:p>
        </p:txBody>
      </p:sp>
      <p:sp>
        <p:nvSpPr>
          <p:cNvPr id="597" name="Google Shape;597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Envie este slide na confirmação de inscrição. Quem chegar sem Studio 1.15 e conta conectada perde o primeiro bloco.</a:t>
            </a:r>
            <a:endParaRPr/>
          </a:p>
        </p:txBody>
      </p:sp>
      <p:sp>
        <p:nvSpPr>
          <p:cNvPr id="621" name="Google Shape;62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Levante a mão de quem tem plano pago. Isso define quantas duplas executam Sync e MCP e quantas acompanham a demo compartilhada.</a:t>
            </a:r>
            <a:endParaRPr/>
          </a:p>
        </p:txBody>
      </p:sp>
      <p:sp>
        <p:nvSpPr>
          <p:cNvPr id="642" name="Google Shape;64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 versão de 4 horas os scaffolds do tema e do plugin são obrigatórios — sem eles não sobra tempo para Annotate e Preview.</a:t>
            </a:r>
            <a:endParaRPr/>
          </a:p>
        </p:txBody>
      </p:sp>
      <p:sp>
        <p:nvSpPr>
          <p:cNvPr id="662" name="Google Shape;66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de bastidores: mantenha na versão de referência do deck, não precisa projetar. Na véspera, repita o fluxo inteiro sem cache de conversas anteriores.</a:t>
            </a:r>
            <a:endParaRPr/>
          </a:p>
        </p:txBody>
      </p:sp>
      <p:sp>
        <p:nvSpPr>
          <p:cNvPr id="683" name="Google Shape;68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Estes são os guardrails que devem sobreviver ao workshop. A IA propõe e executa; a pessoa continua responsável por escopo, revisão e aceitação.</a:t>
            </a:r>
            <a:endParaRPr/>
          </a:p>
        </p:txBody>
      </p:sp>
      <p:sp>
        <p:nvSpPr>
          <p:cNvPr id="701" name="Google Shape;70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5" name="Google Shape;72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honesto: cada linha é uma promessa que o mercado costuma fazer e que este workshop não faz.</a:t>
            </a:r>
            <a:endParaRPr/>
          </a:p>
        </p:txBody>
      </p:sp>
      <p:sp>
        <p:nvSpPr>
          <p:cNvPr id="726" name="Google Shape;726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0" name="Google Shape;75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Peça que cada dupla responda duas destas perguntas em voz alta. Se conseguirem explicar e demonstrar, o workshop funcionou.</a:t>
            </a:r>
            <a:endParaRPr/>
          </a:p>
        </p:txBody>
      </p:sp>
      <p:sp>
        <p:nvSpPr>
          <p:cNvPr id="751" name="Google Shape;75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8" name="Google Shape;77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Peça o compromisso concreto: qual projeto real da agência entra no Studio nesta semana. Compartilhe o handout com os prompts completos e as referências oficiais.</a:t>
            </a:r>
            <a:endParaRPr/>
          </a:p>
        </p:txBody>
      </p:sp>
      <p:sp>
        <p:nvSpPr>
          <p:cNvPr id="779" name="Google Shape;77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58E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66759" y="2628305"/>
            <a:ext cx="15716250" cy="1270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9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0"/>
              <a:buFont typeface="Arial"/>
              <a:buNone/>
            </a:pPr>
            <a:r>
              <a:rPr i="0" lang="en-US" sz="9900" u="none" cap="none" strike="noStrike">
                <a:solidFill>
                  <a:srgbClr val="FFFFFF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Do brief ao deploy</a:t>
            </a:r>
            <a:endParaRPr i="0" sz="9900" u="none" cap="none" strike="noStrike">
              <a:solidFill>
                <a:schemeClr val="dk1"/>
              </a:solidFill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066759" y="4393812"/>
            <a:ext cx="9810749" cy="11276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3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Desenvolvimento agêntico local </a:t>
            </a:r>
            <a:endParaRPr b="0" i="0" sz="3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3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 WordPress Studio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66759" y="6245301"/>
            <a:ext cx="17769928" cy="411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Fellyph Cintra &amp; D</a:t>
            </a:r>
            <a:r>
              <a:rPr b="1"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avi Pontes</a:t>
            </a:r>
            <a:endParaRPr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66759" y="6675686"/>
            <a:ext cx="17769928" cy="411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Workshop de 4 horas para agências digitais</a:t>
            </a:r>
            <a:endParaRPr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6991842" y="8879085"/>
            <a:ext cx="305598" cy="5316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066745" y="9649750"/>
            <a:ext cx="58467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WordPress </a:t>
            </a:r>
            <a:r>
              <a:rPr i="0" lang="en-US" sz="18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Studio · </a:t>
            </a:r>
            <a:r>
              <a:rPr lang="en-US" sz="18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Automattic</a:t>
            </a:r>
            <a:endParaRPr i="0" sz="18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i="0" sz="18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i="0" lang="en-US" sz="1950" u="none" cap="none" strike="noStrike">
                <a:solidFill>
                  <a:srgbClr val="3858E9"/>
                </a:solidFill>
                <a:latin typeface="Roboto Mono"/>
                <a:ea typeface="Roboto Mono"/>
                <a:cs typeface="Roboto Mono"/>
                <a:sym typeface="Roboto Mono"/>
              </a:rPr>
              <a:t>RESULTADO CONCRETO</a:t>
            </a:r>
            <a:endParaRPr i="0" sz="1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Inter Tight"/>
                <a:ea typeface="Inter Tight"/>
                <a:cs typeface="Inter Tight"/>
                <a:sym typeface="Inter Tight"/>
              </a:rPr>
              <a:t>O que você leva daqui</a:t>
            </a:r>
            <a:endParaRPr i="0" sz="5700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066759" y="2668556"/>
            <a:ext cx="7924827" cy="2212330"/>
          </a:xfrm>
          <a:prstGeom prst="roundRect">
            <a:avLst>
              <a:gd fmla="val 172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456419" y="3058215"/>
            <a:ext cx="7860059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i="0" lang="en-US" sz="2100" u="none" cap="none" strike="noStrike">
                <a:solidFill>
                  <a:srgbClr val="3858E9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i="0" sz="21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456419" y="3537915"/>
            <a:ext cx="7860059" cy="45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Inter Tight"/>
                <a:ea typeface="Inter Tight"/>
                <a:cs typeface="Inter Tight"/>
                <a:sym typeface="Inter Tight"/>
              </a:rPr>
              <a:t>Um site local no Studio</a:t>
            </a:r>
            <a:endParaRPr i="0" sz="2850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456419" y="4091217"/>
            <a:ext cx="7860059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14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Pronto para ser publicado</a:t>
            </a:r>
            <a:endParaRPr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9296345" y="2668556"/>
            <a:ext cx="7924894" cy="2212330"/>
          </a:xfrm>
          <a:prstGeom prst="roundRect">
            <a:avLst>
              <a:gd fmla="val 172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9686005" y="3058215"/>
            <a:ext cx="7860134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i="0" lang="en-US" sz="2100" u="none" cap="none" strike="noStrike">
                <a:solidFill>
                  <a:srgbClr val="3858E9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i="0" sz="21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686005" y="3537915"/>
            <a:ext cx="7860134" cy="45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Inter Tight"/>
                <a:ea typeface="Inter Tight"/>
                <a:cs typeface="Inter Tight"/>
                <a:sym typeface="Inter Tight"/>
              </a:rPr>
              <a:t>Uma landing page do brief</a:t>
            </a:r>
            <a:endParaRPr i="0" sz="2850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686000" y="4091225"/>
            <a:ext cx="7242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14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Pontos discutidos com o cliente para uma código</a:t>
            </a:r>
            <a:endParaRPr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66759" y="5185645"/>
            <a:ext cx="7924827" cy="2212330"/>
          </a:xfrm>
          <a:prstGeom prst="roundRect">
            <a:avLst>
              <a:gd fmla="val 172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456419" y="5575304"/>
            <a:ext cx="7860059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i="0" lang="en-US" sz="2100" u="none" cap="none" strike="noStrike">
                <a:solidFill>
                  <a:srgbClr val="3858E9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i="0" sz="21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456419" y="6055004"/>
            <a:ext cx="7860059" cy="45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0F172A"/>
                </a:solidFill>
                <a:latin typeface="Inter Tight"/>
                <a:ea typeface="Inter Tight"/>
                <a:cs typeface="Inter Tight"/>
                <a:sym typeface="Inter Tight"/>
              </a:rPr>
              <a:t>Técnicas de otimização</a:t>
            </a:r>
            <a:endParaRPr i="0" sz="2850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456425" y="6608300"/>
            <a:ext cx="7242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14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Agent Skills e ferramentas para design</a:t>
            </a:r>
            <a:endParaRPr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296345" y="5185645"/>
            <a:ext cx="7924894" cy="2212330"/>
          </a:xfrm>
          <a:prstGeom prst="roundRect">
            <a:avLst>
              <a:gd fmla="val 172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9686005" y="5575304"/>
            <a:ext cx="7860134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i="0" lang="en-US" sz="2100" u="none" cap="none" strike="noStrike">
                <a:solidFill>
                  <a:srgbClr val="3858E9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i="0" sz="21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9686000" y="6055000"/>
            <a:ext cx="72426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0F172A"/>
                </a:solidFill>
                <a:latin typeface="Inter Tight"/>
                <a:ea typeface="Inter Tight"/>
                <a:cs typeface="Inter Tight"/>
                <a:sym typeface="Inter Tight"/>
              </a:rPr>
              <a:t>Publicando o seu site</a:t>
            </a:r>
            <a:endParaRPr i="0" sz="2850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686000" y="6608300"/>
            <a:ext cx="72426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14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 que sobe para </a:t>
            </a:r>
            <a:r>
              <a:rPr lang="en-US" sz="2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produção e como gerenciar via MCP</a:t>
            </a:r>
            <a:endParaRPr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</a:t>
            </a:r>
            <a:r>
              <a:rPr lang="en-US" sz="18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Automattic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VERSÃO COMPRIMIDA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Agenda de 4 horas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1066759" y="2478056"/>
            <a:ext cx="16154480" cy="1052891"/>
          </a:xfrm>
          <a:prstGeom prst="roundRect">
            <a:avLst>
              <a:gd fmla="val 361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1418264" y="2658138"/>
            <a:ext cx="1790700" cy="7308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0:00 · 0:25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437525" y="2818325"/>
            <a:ext cx="10301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0F172A"/>
                </a:solidFill>
              </a:rPr>
              <a:t>Objetivo final</a:t>
            </a: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e o mapa das ferramentas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4393235" y="2831320"/>
            <a:ext cx="2724150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demo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66759" y="3645207"/>
            <a:ext cx="16154480" cy="1052891"/>
          </a:xfrm>
          <a:prstGeom prst="roundRect">
            <a:avLst>
              <a:gd fmla="val 361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418264" y="3825289"/>
            <a:ext cx="1790700" cy="7308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0:25 · 1:10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437525" y="3985475"/>
            <a:ext cx="10301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Ambiente</a:t>
            </a:r>
            <a:r>
              <a:rPr b="1" lang="en-US" sz="2550">
                <a:solidFill>
                  <a:srgbClr val="0F172A"/>
                </a:solidFill>
              </a:rPr>
              <a:t> </a:t>
            </a: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 criação da landing page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4393235" y="3998470"/>
            <a:ext cx="2724150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demo guiada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066759" y="4812357"/>
            <a:ext cx="16154480" cy="1052891"/>
          </a:xfrm>
          <a:prstGeom prst="roundRect">
            <a:avLst>
              <a:gd fmla="val 361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418264" y="4992439"/>
            <a:ext cx="1790700" cy="7308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1:10 · 1:40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437525" y="5152625"/>
            <a:ext cx="10301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Annotate: rodada de feedback visual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4393235" y="5165621"/>
            <a:ext cx="2724150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mão na massa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066759" y="5979508"/>
            <a:ext cx="16154480" cy="1052891"/>
          </a:xfrm>
          <a:prstGeom prst="roundRect">
            <a:avLst>
              <a:gd fmla="val 361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1418264" y="6159590"/>
            <a:ext cx="1790700" cy="7308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1:40 · 2:25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437525" y="6319775"/>
            <a:ext cx="10301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0F172A"/>
                </a:solidFill>
              </a:rPr>
              <a:t>Agent Skills: melhorando seu o design 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4393235" y="6332772"/>
            <a:ext cx="2724150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demo guiada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066759" y="7146659"/>
            <a:ext cx="16154480" cy="1052891"/>
          </a:xfrm>
          <a:prstGeom prst="roundRect">
            <a:avLst>
              <a:gd fmla="val 361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1418264" y="7326741"/>
            <a:ext cx="1790700" cy="7308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2:25 · 3:05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437525" y="7486925"/>
            <a:ext cx="10301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Preview e feedback cruzado entre duplas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4393235" y="7499922"/>
            <a:ext cx="2724150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mão na massa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066759" y="8313809"/>
            <a:ext cx="16154480" cy="1052891"/>
          </a:xfrm>
          <a:prstGeom prst="roundRect">
            <a:avLst>
              <a:gd fmla="val 361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1418264" y="8493891"/>
            <a:ext cx="1790700" cy="7308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3:05 · 4:00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437525" y="8654075"/>
            <a:ext cx="103014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Sync seletivo, Liberate, MCP e encerramento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4393235" y="8667073"/>
            <a:ext cx="2724150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demo guiada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1066759" y="3480616"/>
            <a:ext cx="8465864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i="0" lang="en-US" sz="1950" u="none" cap="none" strike="noStrike">
                <a:solidFill>
                  <a:srgbClr val="3858E9"/>
                </a:solidFill>
                <a:latin typeface="Roboto Mono"/>
                <a:ea typeface="Roboto Mono"/>
                <a:cs typeface="Roboto Mono"/>
                <a:sym typeface="Roboto Mono"/>
              </a:rPr>
              <a:t>FORMATO</a:t>
            </a:r>
            <a:endParaRPr i="0" sz="1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066759" y="3995832"/>
            <a:ext cx="8465864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Como vamos trabalhar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066759" y="5082412"/>
            <a:ext cx="7063740" cy="1495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465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550"/>
              <a:buFont typeface="Arial"/>
              <a:buNone/>
            </a:pPr>
            <a:r>
              <a:rPr lang="en-US" sz="25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i="0" lang="en-US" sz="25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 único projeto: uma agência fictícia. Podem trabalhar em duplas ou sozinhos. </a:t>
            </a:r>
            <a:endParaRPr i="0" sz="25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9524999" y="2583994"/>
            <a:ext cx="7696240" cy="1465010"/>
          </a:xfrm>
          <a:prstGeom prst="roundRect">
            <a:avLst>
              <a:gd fmla="val 260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9895609" y="2916503"/>
            <a:ext cx="7185909" cy="8380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14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Duplas: </a:t>
            </a:r>
            <a:r>
              <a:rPr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Uma pessoa dirige, a outra revisa e screenshots.</a:t>
            </a:r>
            <a:endParaRPr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9524999" y="4277591"/>
            <a:ext cx="7696240" cy="1465010"/>
          </a:xfrm>
          <a:prstGeom prst="roundRect">
            <a:avLst>
              <a:gd fmla="val 260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9895609" y="4610100"/>
            <a:ext cx="7185909" cy="8380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14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Nada de produção. Todos os sites usados aqui são locais.</a:t>
            </a:r>
            <a:endParaRPr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9524999" y="5971187"/>
            <a:ext cx="7696240" cy="1465010"/>
          </a:xfrm>
          <a:prstGeom prst="roundRect">
            <a:avLst>
              <a:gd fmla="val 260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9895609" y="6303696"/>
            <a:ext cx="7185909" cy="8380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14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 Studio Code está em beta e tem limite mensal por conta.</a:t>
            </a:r>
            <a:endParaRPr i="0" sz="2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i="0" lang="en-US" sz="1800" u="none" cap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Studio ·</a:t>
            </a:r>
            <a:r>
              <a:rPr lang="en-US" sz="1800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 Automattic</a:t>
            </a:r>
            <a:endParaRPr i="0" sz="18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i="0" lang="en-US" sz="1800" u="none" cap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i="0" sz="18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1066759" y="2609363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950"/>
              <a:buFont typeface="Courier New"/>
              <a:buNone/>
            </a:pPr>
            <a:r>
              <a:rPr i="0" lang="en-US" sz="1950" u="none" cap="none" strike="noStrike">
                <a:solidFill>
                  <a:srgbClr val="D97757"/>
                </a:solidFill>
                <a:latin typeface="Roboto Mono"/>
                <a:ea typeface="Roboto Mono"/>
                <a:cs typeface="Roboto Mono"/>
                <a:sym typeface="Roboto Mono"/>
              </a:rPr>
              <a:t>DEMO AO VIVO · 20 MIN</a:t>
            </a:r>
            <a:endParaRPr i="0" sz="195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1066759" y="3467425"/>
            <a:ext cx="13735050" cy="1939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3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Primeiro o resultado, depois o processo</a:t>
            </a:r>
            <a:endParaRPr i="0" sz="7200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066759" y="5902658"/>
            <a:ext cx="3911135" cy="66837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1342118" y="6063717"/>
            <a:ext cx="3477751" cy="3843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i="0" lang="en-US" sz="21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site pronto no Studio</a:t>
            </a:r>
            <a:endParaRPr i="0" sz="21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149318" y="5902658"/>
            <a:ext cx="3271039" cy="66837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5424677" y="6063717"/>
            <a:ext cx="2818452" cy="3843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i="0" lang="en-US" sz="21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/annotate no hero</a:t>
            </a:r>
            <a:endParaRPr i="0" sz="21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8591780" y="5902658"/>
            <a:ext cx="2630943" cy="66837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8867139" y="6063717"/>
            <a:ext cx="2159153" cy="3843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i="0" lang="en-US" sz="21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diff revisado</a:t>
            </a:r>
            <a:endParaRPr i="0" sz="21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1394145" y="5902658"/>
            <a:ext cx="3431029" cy="66837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11669504" y="6063717"/>
            <a:ext cx="2983242" cy="3843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i="0" lang="en-US" sz="21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Preview atualizado</a:t>
            </a:r>
            <a:endParaRPr i="0" sz="21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066759" y="6742455"/>
            <a:ext cx="2950991" cy="66837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1342118" y="6903514"/>
            <a:ext cx="2488803" cy="3843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i="0" lang="en-US" sz="21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plugin na barra</a:t>
            </a:r>
            <a:endParaRPr i="0" sz="21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Studio · </a:t>
            </a:r>
            <a:r>
              <a:rPr lang="en-US" sz="18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Automattic</a:t>
            </a:r>
            <a:endParaRPr i="0" sz="18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i="0" lang="en-US" sz="18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i="0" sz="18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MODELO MENTAL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Inter Tight"/>
                <a:ea typeface="Inter Tight"/>
                <a:cs typeface="Inter Tight"/>
                <a:sym typeface="Inter Tight"/>
              </a:rPr>
              <a:t>O mapa das ferramentas</a:t>
            </a:r>
            <a:endParaRPr i="0" sz="5700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066748" y="2630476"/>
            <a:ext cx="3754200" cy="2309700"/>
          </a:xfrm>
          <a:prstGeom prst="roundRect">
            <a:avLst>
              <a:gd fmla="val 2032" name="adj"/>
            </a:avLst>
          </a:prstGeom>
          <a:solidFill>
            <a:srgbClr val="FFFFFF"/>
          </a:solidFill>
          <a:ln cap="flat" cmpd="sng" w="117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600" lIns="112600" spcFirstLastPara="1" rIns="112600" wrap="square" tIns="112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1405879" y="2946109"/>
            <a:ext cx="33837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87"/>
              <a:buFont typeface="Arial"/>
              <a:buNone/>
            </a:pPr>
            <a:r>
              <a:rPr b="1" i="0" lang="en-US" sz="2587" u="none" cap="none" strike="noStrike">
                <a:solidFill>
                  <a:srgbClr val="0F172A"/>
                </a:solidFill>
                <a:latin typeface="Inter Tight"/>
                <a:ea typeface="Inter Tight"/>
                <a:cs typeface="Inter Tight"/>
                <a:sym typeface="Inter Tight"/>
              </a:rPr>
              <a:t>Studio</a:t>
            </a:r>
            <a:endParaRPr i="0" sz="2587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1405879" y="3442056"/>
            <a:ext cx="3169800" cy="1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lnSpc>
                <a:spcPct val="12118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17"/>
              <a:buFont typeface="Arial"/>
              <a:buNone/>
            </a:pPr>
            <a:r>
              <a:rPr i="0" lang="en-US" sz="2217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Sites locais em segundos, com SSL e domínio local.</a:t>
            </a:r>
            <a:endParaRPr i="0" sz="2217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5102579" y="2630476"/>
            <a:ext cx="3754200" cy="2309700"/>
          </a:xfrm>
          <a:prstGeom prst="roundRect">
            <a:avLst>
              <a:gd fmla="val 2032" name="adj"/>
            </a:avLst>
          </a:prstGeom>
          <a:solidFill>
            <a:srgbClr val="FFFFFF"/>
          </a:solidFill>
          <a:ln cap="flat" cmpd="sng" w="117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600" lIns="112600" spcFirstLastPara="1" rIns="112600" wrap="square" tIns="112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5441710" y="2946109"/>
            <a:ext cx="33837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87"/>
              <a:buFont typeface="Arial"/>
              <a:buNone/>
            </a:pPr>
            <a:r>
              <a:rPr b="1" lang="en-US" sz="2587">
                <a:solidFill>
                  <a:srgbClr val="0F172A"/>
                </a:solidFill>
                <a:latin typeface="Inter Tight"/>
                <a:ea typeface="Inter Tight"/>
                <a:cs typeface="Inter Tight"/>
                <a:sym typeface="Inter Tight"/>
              </a:rPr>
              <a:t>Claude Design</a:t>
            </a:r>
            <a:endParaRPr i="0" sz="2587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441710" y="3442056"/>
            <a:ext cx="3169800" cy="1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lnSpc>
                <a:spcPct val="12118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17"/>
              <a:buFont typeface="Arial"/>
              <a:buNone/>
            </a:pPr>
            <a:r>
              <a:rPr lang="en-US" sz="22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Ferramenta para criar o design inicial.</a:t>
            </a:r>
            <a:endParaRPr i="0" sz="2217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9138408" y="2630476"/>
            <a:ext cx="3754500" cy="2309700"/>
          </a:xfrm>
          <a:prstGeom prst="roundRect">
            <a:avLst>
              <a:gd fmla="val 2032" name="adj"/>
            </a:avLst>
          </a:prstGeom>
          <a:solidFill>
            <a:srgbClr val="FFFFFF"/>
          </a:solidFill>
          <a:ln cap="flat" cmpd="sng" w="117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600" lIns="112600" spcFirstLastPara="1" rIns="112600" wrap="square" tIns="112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9477540" y="2946109"/>
            <a:ext cx="33837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87"/>
              <a:buFont typeface="Arial"/>
              <a:buNone/>
            </a:pPr>
            <a:r>
              <a:rPr b="1" i="0" lang="en-US" sz="2587" u="none" cap="none" strike="noStrike">
                <a:solidFill>
                  <a:srgbClr val="0F172A"/>
                </a:solidFill>
                <a:latin typeface="Inter Tight"/>
                <a:ea typeface="Inter Tight"/>
                <a:cs typeface="Inter Tight"/>
                <a:sym typeface="Inter Tight"/>
              </a:rPr>
              <a:t>Studio CLI</a:t>
            </a:r>
            <a:endParaRPr i="0" sz="2587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9477540" y="3442056"/>
            <a:ext cx="3170100" cy="1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lnSpc>
                <a:spcPct val="12118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17"/>
              <a:buFont typeface="Arial"/>
              <a:buNone/>
            </a:pPr>
            <a:r>
              <a:rPr i="0" lang="en-US" sz="2217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 comando studio no terminal: sites, previews e WP-CLI.</a:t>
            </a:r>
            <a:endParaRPr i="0" sz="2217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3174322" y="2630476"/>
            <a:ext cx="3754200" cy="2309700"/>
          </a:xfrm>
          <a:prstGeom prst="roundRect">
            <a:avLst>
              <a:gd fmla="val 2032" name="adj"/>
            </a:avLst>
          </a:prstGeom>
          <a:solidFill>
            <a:srgbClr val="FFFFFF"/>
          </a:solidFill>
          <a:ln cap="flat" cmpd="sng" w="117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600" lIns="112600" spcFirstLastPara="1" rIns="112600" wrap="square" tIns="112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13513453" y="2946109"/>
            <a:ext cx="33837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87"/>
              <a:buFont typeface="Arial"/>
              <a:buNone/>
            </a:pPr>
            <a:r>
              <a:rPr b="1" i="0" lang="en-US" sz="2587" u="none" cap="none" strike="noStrike">
                <a:solidFill>
                  <a:srgbClr val="0F172A"/>
                </a:solidFill>
                <a:latin typeface="Inter Tight"/>
                <a:ea typeface="Inter Tight"/>
                <a:cs typeface="Inter Tight"/>
                <a:sym typeface="Inter Tight"/>
              </a:rPr>
              <a:t>Studio Code</a:t>
            </a:r>
            <a:endParaRPr i="0" sz="2587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13513453" y="3442056"/>
            <a:ext cx="3169800" cy="1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lnSpc>
                <a:spcPct val="12118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17"/>
              <a:buFont typeface="Arial"/>
              <a:buNone/>
            </a:pPr>
            <a:r>
              <a:rPr i="0" lang="en-US" sz="2217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Agente que trabalha dentro do site e pede permissão.</a:t>
            </a:r>
            <a:endParaRPr i="0" sz="2217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066768" y="5221610"/>
            <a:ext cx="3754200" cy="2666700"/>
          </a:xfrm>
          <a:prstGeom prst="roundRect">
            <a:avLst>
              <a:gd fmla="val 2032" name="adj"/>
            </a:avLst>
          </a:prstGeom>
          <a:solidFill>
            <a:srgbClr val="FFFFFF"/>
          </a:solidFill>
          <a:ln cap="flat" cmpd="sng" w="117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600" lIns="112600" spcFirstLastPara="1" rIns="112600" wrap="square" tIns="112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1405895" y="5537235"/>
            <a:ext cx="33837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87"/>
              <a:buFont typeface="Arial"/>
              <a:buNone/>
            </a:pPr>
            <a:r>
              <a:rPr b="1" i="0" lang="en-US" sz="2587" u="none" cap="none" strike="noStrike">
                <a:solidFill>
                  <a:srgbClr val="0F172A"/>
                </a:solidFill>
                <a:latin typeface="Inter Tight"/>
                <a:ea typeface="Inter Tight"/>
                <a:cs typeface="Inter Tight"/>
                <a:sym typeface="Inter Tight"/>
              </a:rPr>
              <a:t>Agent Skills</a:t>
            </a:r>
            <a:endParaRPr i="0" sz="2587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1405895" y="6033182"/>
            <a:ext cx="3169800" cy="1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lnSpc>
                <a:spcPct val="12118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17"/>
              <a:buFont typeface="Arial"/>
              <a:buNone/>
            </a:pPr>
            <a:r>
              <a:rPr i="0" lang="en-US" sz="2217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Arquivos SKILL.md com conhecimento de WordPress.</a:t>
            </a:r>
            <a:endParaRPr i="0" sz="2217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102579" y="5221615"/>
            <a:ext cx="3754200" cy="2667000"/>
          </a:xfrm>
          <a:prstGeom prst="roundRect">
            <a:avLst>
              <a:gd fmla="val 1760" name="adj"/>
            </a:avLst>
          </a:prstGeom>
          <a:solidFill>
            <a:srgbClr val="FFFFFF"/>
          </a:solidFill>
          <a:ln cap="flat" cmpd="sng" w="117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600" lIns="112600" spcFirstLastPara="1" rIns="112600" wrap="square" tIns="112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5441710" y="5537248"/>
            <a:ext cx="33837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87"/>
              <a:buFont typeface="Arial"/>
              <a:buNone/>
            </a:pPr>
            <a:r>
              <a:rPr b="1" i="0" lang="en-US" sz="2587" u="none" cap="none" strike="noStrike">
                <a:solidFill>
                  <a:srgbClr val="0F172A"/>
                </a:solidFill>
                <a:latin typeface="Inter Tight"/>
                <a:ea typeface="Inter Tight"/>
                <a:cs typeface="Inter Tight"/>
                <a:sym typeface="Inter Tight"/>
              </a:rPr>
              <a:t>Preview</a:t>
            </a:r>
            <a:endParaRPr i="0" sz="2587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441710" y="6033194"/>
            <a:ext cx="3169800" cy="1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lnSpc>
                <a:spcPct val="12118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17"/>
              <a:buFont typeface="Arial"/>
              <a:buNone/>
            </a:pPr>
            <a:r>
              <a:rPr i="0" lang="en-US" sz="2217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Snapshot público e temporário do site local.</a:t>
            </a:r>
            <a:endParaRPr i="0" sz="2217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9138408" y="5221615"/>
            <a:ext cx="3754500" cy="2667000"/>
          </a:xfrm>
          <a:prstGeom prst="roundRect">
            <a:avLst>
              <a:gd fmla="val 1760" name="adj"/>
            </a:avLst>
          </a:prstGeom>
          <a:solidFill>
            <a:srgbClr val="FFFFFF"/>
          </a:solidFill>
          <a:ln cap="flat" cmpd="sng" w="117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2600" lIns="112600" spcFirstLastPara="1" rIns="112600" wrap="square" tIns="112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9477540" y="5537248"/>
            <a:ext cx="33837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87"/>
              <a:buFont typeface="Arial"/>
              <a:buNone/>
            </a:pPr>
            <a:r>
              <a:rPr b="1" i="0" lang="en-US" sz="2587" u="none" cap="none" strike="noStrike">
                <a:solidFill>
                  <a:srgbClr val="0F172A"/>
                </a:solidFill>
                <a:latin typeface="Inter Tight"/>
                <a:ea typeface="Inter Tight"/>
                <a:cs typeface="Inter Tight"/>
                <a:sym typeface="Inter Tight"/>
              </a:rPr>
              <a:t>Sync</a:t>
            </a:r>
            <a:endParaRPr i="0" sz="2587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9477540" y="6033194"/>
            <a:ext cx="3170100" cy="1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lnSpc>
                <a:spcPct val="12118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17"/>
              <a:buFont typeface="Arial"/>
              <a:buNone/>
            </a:pPr>
            <a:r>
              <a:rPr i="0" lang="en-US" sz="2217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Pull e Push seletivos com produção ou staging.</a:t>
            </a:r>
            <a:endParaRPr i="0" sz="2217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3174305" y="5221615"/>
            <a:ext cx="3754200" cy="2666700"/>
          </a:xfrm>
          <a:prstGeom prst="roundRect">
            <a:avLst>
              <a:gd fmla="val 5279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112600" lIns="112600" spcFirstLastPara="1" rIns="112600" wrap="square" tIns="112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13502770" y="5526583"/>
            <a:ext cx="3191100" cy="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87"/>
              <a:buFont typeface="Arial"/>
              <a:buNone/>
            </a:pPr>
            <a:r>
              <a:rPr b="1" i="0" lang="en-US" sz="2587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WordPress.com MCP</a:t>
            </a:r>
            <a:endParaRPr i="0" sz="2587" u="none" cap="none" strike="noStrike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3502770" y="6401155"/>
            <a:ext cx="3191100" cy="1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1275" lIns="31275" spcFirstLastPara="1" rIns="31275" wrap="square" tIns="31275">
            <a:noAutofit/>
          </a:bodyPr>
          <a:lstStyle/>
          <a:p>
            <a:pPr indent="0" lvl="0" marL="0" marR="0" rtl="0" algn="l">
              <a:lnSpc>
                <a:spcPct val="12118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217"/>
              <a:buFont typeface="Arial"/>
              <a:buNone/>
            </a:pPr>
            <a:r>
              <a:rPr b="0" i="0" lang="en-US" sz="2217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Consulta e manutenção de sites remotos da conta.</a:t>
            </a:r>
            <a:endParaRPr b="0" i="0" sz="221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i="0" lang="en-US" sz="1800" u="none" cap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Studio · </a:t>
            </a:r>
            <a:r>
              <a:rPr lang="en-US" sz="1800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Automattic</a:t>
            </a:r>
            <a:endParaRPr i="0" sz="18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i="0" lang="en-US" sz="1800" u="none" cap="none" strike="noStrike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i="0" sz="18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PONTO DE PARTIDA PARA TODOS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lang="en-US" sz="5700">
                <a:solidFill>
                  <a:srgbClr val="3858E9"/>
                </a:solidFill>
              </a:rPr>
              <a:t>Planejando o nosso design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1066759" y="2401883"/>
            <a:ext cx="13735050" cy="977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116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550"/>
              <a:buFont typeface="Arial"/>
              <a:buNone/>
            </a:pPr>
            <a:r>
              <a:rPr lang="en-US" sz="2550">
                <a:solidFill>
                  <a:srgbClr val="334155"/>
                </a:solidFill>
              </a:rPr>
              <a:t>Antes de começar a desenvolver o nosso tema. 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066759" y="3721988"/>
            <a:ext cx="5207022" cy="2228836"/>
          </a:xfrm>
          <a:prstGeom prst="roundRect">
            <a:avLst>
              <a:gd fmla="val 17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1399255" y="4054484"/>
            <a:ext cx="4996234" cy="4104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Quick Start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1399255" y="4541084"/>
            <a:ext cx="4678292" cy="756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667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Ambiente parecido com o plano Business do WordPress.com.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540455" y="3721988"/>
            <a:ext cx="5207022" cy="2228836"/>
          </a:xfrm>
          <a:prstGeom prst="roundRect">
            <a:avLst>
              <a:gd fmla="val 17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6872950" y="4054484"/>
            <a:ext cx="4996234" cy="4104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Development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872950" y="4541084"/>
            <a:ext cx="4678292" cy="11153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667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Debug ativo, Query Monitor, Plugin Check, Theme Check e Create Block Theme. É o do workshop.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2014150" y="3721988"/>
            <a:ext cx="5207090" cy="2228836"/>
          </a:xfrm>
          <a:prstGeom prst="roundRect">
            <a:avLst>
              <a:gd fmla="val 17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12346645" y="4054484"/>
            <a:ext cx="4996309" cy="4104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Commerce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12346645" y="4541084"/>
            <a:ext cx="4678362" cy="756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667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WooCommerce e extensões para projetos de loja.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1066759" y="6369911"/>
            <a:ext cx="17769928" cy="4095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Mesmo formato do WordPress Playground: o Blueprint do cliente abre nos dois lugares.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</a:t>
            </a:r>
            <a:r>
              <a:rPr lang="en-US" sz="18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Automattic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FRONTEIRA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O que é local e o que é remoto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066759" y="2668556"/>
            <a:ext cx="7886740" cy="6437358"/>
          </a:xfrm>
          <a:prstGeom prst="roundRect">
            <a:avLst>
              <a:gd fmla="val 5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1494505" y="3096301"/>
            <a:ext cx="7734374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LOCAL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494505" y="3652174"/>
            <a:ext cx="7734374" cy="4952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52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Onde tudo é construído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494505" y="4318857"/>
            <a:ext cx="7242187" cy="864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479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Criação do tema, plugin, Annotate, debug, testes e Plugin Check. Erro aqui é barato.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9334499" y="2668556"/>
            <a:ext cx="7886740" cy="6437358"/>
          </a:xfrm>
          <a:prstGeom prst="roundRect">
            <a:avLst>
              <a:gd fmla="val 177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9753586" y="3087642"/>
            <a:ext cx="7753424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REMOTO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9753586" y="3643515"/>
            <a:ext cx="7753424" cy="4952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52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Onde só entra o que foi revisado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9753586" y="4310198"/>
            <a:ext cx="7260024" cy="864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479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Preview, Sync para staging e MCP. Sempre com decisão humana no meio.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</a:t>
            </a:r>
            <a:r>
              <a:rPr lang="en-US" sz="18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Automattic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DE ONDE VEM A ESPECIALIZAÇÃO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Agent Skills que vêm no Studio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066759" y="2401883"/>
            <a:ext cx="13735050" cy="977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116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Cada skill é um </a:t>
            </a:r>
            <a:r>
              <a:rPr b="0" i="0" lang="en-US" sz="255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SKILL.md </a:t>
            </a:r>
            <a:r>
              <a:rPr b="0" i="0" lang="en-US" sz="25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instalado em </a:t>
            </a:r>
            <a:r>
              <a:rPr b="0" i="0" lang="en-US" sz="255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.agents/skills/ </a:t>
            </a:r>
            <a:r>
              <a:rPr b="0" i="0" lang="en-US" sz="25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. O agente lê antes de escrever código.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1066759" y="3721988"/>
            <a:ext cx="5232391" cy="1679864"/>
          </a:xfrm>
          <a:prstGeom prst="roundRect">
            <a:avLst>
              <a:gd fmla="val 680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1390596" y="4007738"/>
            <a:ext cx="5043190" cy="367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Block Themes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1390596" y="4432034"/>
            <a:ext cx="4722259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31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theme.json, templates, patterns e style variations.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6527736" y="3721988"/>
            <a:ext cx="5232459" cy="1679864"/>
          </a:xfrm>
          <a:prstGeom prst="roundRect">
            <a:avLst>
              <a:gd fmla="val 680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6851573" y="4007738"/>
            <a:ext cx="5043264" cy="367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Plugin Development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6851573" y="4432034"/>
            <a:ext cx="4722329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31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Hooks, Settings API, segurança e empacotamento.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11988781" y="3721988"/>
            <a:ext cx="5232391" cy="1679864"/>
          </a:xfrm>
          <a:prstGeom prst="roundRect">
            <a:avLst>
              <a:gd fmla="val 226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12321277" y="4016397"/>
            <a:ext cx="5024140" cy="367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Block Development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12321277" y="4440693"/>
            <a:ext cx="4704422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3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block.json, atributos, rendering e deprecations.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1066759" y="5630438"/>
            <a:ext cx="5232391" cy="1679864"/>
          </a:xfrm>
          <a:prstGeom prst="roundRect">
            <a:avLst>
              <a:gd fmla="val 226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1399255" y="5924848"/>
            <a:ext cx="5024140" cy="367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Studio CLI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399255" y="6349143"/>
            <a:ext cx="4704422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3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Fluxos de desenvolvimento com o comando studio.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6527736" y="5630438"/>
            <a:ext cx="5232459" cy="1679864"/>
          </a:xfrm>
          <a:prstGeom prst="roundRect">
            <a:avLst>
              <a:gd fmla="val 226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6860232" y="5924848"/>
            <a:ext cx="5024214" cy="367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REST API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6860232" y="6349143"/>
            <a:ext cx="502421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3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Rotas, endpoints, schema e autenticação.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11988781" y="5630438"/>
            <a:ext cx="5232391" cy="1679864"/>
          </a:xfrm>
          <a:prstGeom prst="roundRect">
            <a:avLst>
              <a:gd fmla="val 226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12321277" y="5924848"/>
            <a:ext cx="5024140" cy="3671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WP-CLI &amp; Ops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12321277" y="6349143"/>
            <a:ext cx="502414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31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Comandos, automação e search-replace.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1066759" y="7729389"/>
            <a:ext cx="17769928" cy="4095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Settings → Skills instala em todos os sites. O modal Edit site → Overview ajusta por site.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/>
          <p:nvPr/>
        </p:nvSpPr>
        <p:spPr>
          <a:xfrm>
            <a:off x="1066759" y="2604627"/>
            <a:ext cx="791415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TERMINAL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1066759" y="3196016"/>
            <a:ext cx="7410530" cy="15727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7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mesmo fluxo pelo Studio CLI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1066759" y="4997378"/>
            <a:ext cx="7410530" cy="14467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116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Funciona com o Studio aberto ou fechado. É o que o agente chama quando você pede um site, um teste ou um preview.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1066759" y="6672709"/>
            <a:ext cx="7410530" cy="7810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Settings → Studio CLI, ou npm install -g wp-studio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8947209" y="914346"/>
            <a:ext cx="8273964" cy="8191567"/>
          </a:xfrm>
          <a:prstGeom prst="roundRect">
            <a:avLst>
              <a:gd fmla="val 1395" name="adj"/>
            </a:avLst>
          </a:prstGeom>
          <a:solidFill>
            <a:srgbClr val="020617"/>
          </a:solidFill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9413041" y="2981501"/>
            <a:ext cx="7562569" cy="8381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blueprint use </a:t>
            </a:r>
            <a:r>
              <a:rPr b="0" i="0" lang="en-US" sz="22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development --name "Raiz Urbana"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9413041" y="3952942"/>
            <a:ext cx="8076530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site start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9413041" y="4524375"/>
            <a:ext cx="7562569" cy="8381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wp plugin activate </a:t>
            </a:r>
            <a:r>
              <a:rPr b="0" i="0" lang="en-US" sz="22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raiz-campaign-bar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9413041" y="5495816"/>
            <a:ext cx="8076530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preview create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9413041" y="6067249"/>
            <a:ext cx="8076530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preview update </a:t>
            </a:r>
            <a:r>
              <a:rPr b="0" i="0" lang="en-US" sz="2250" u="none" cap="none" strike="noStrike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&lt;host&gt;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9413041" y="6638681"/>
            <a:ext cx="8076530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b="0" i="0" lang="en-US" sz="22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mcp</a:t>
            </a:r>
            <a:r>
              <a:rPr b="0" i="0" lang="en-US" sz="2250" u="none" cap="none" strike="noStrike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# servidor MCP local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MODEL PICKER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Estratégia de modelos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1066759" y="3342138"/>
            <a:ext cx="16154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1066759" y="2668556"/>
            <a:ext cx="3562350" cy="4364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Modelo rápido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4686259" y="2694533"/>
            <a:ext cx="1378847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14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Iterações visuais e tarefas bem especificadas.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1066759" y="4271976"/>
            <a:ext cx="16154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1066759" y="3598393"/>
            <a:ext cx="3562350" cy="4364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Modelo mais capaz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4686259" y="3624371"/>
            <a:ext cx="1378847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14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Arquitetura, migração e debugging complexo.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1066759" y="5201813"/>
            <a:ext cx="16154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1066759" y="4528231"/>
            <a:ext cx="3562350" cy="4364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Nova conversa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4686259" y="4554208"/>
            <a:ext cx="1378847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14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Auditoria e revisão independente do que já foi feito.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1066759" y="5705732"/>
            <a:ext cx="11772900" cy="7810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A lista de modelos muda a cada release. Escolha pelo tipo de tarefa, não pelo nome.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"/>
          <p:cNvSpPr/>
          <p:nvPr/>
        </p:nvSpPr>
        <p:spPr>
          <a:xfrm>
            <a:off x="1066759" y="2580341"/>
            <a:ext cx="7875166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PROJETO CONDUTOR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1066759" y="3190807"/>
            <a:ext cx="7374019" cy="15727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79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O cliente do dia: Raiz Urbana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1066759" y="5011246"/>
            <a:ext cx="7374019" cy="1495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465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Paisagismo e manutenção de áreas verdes para escritórios. A landing page existe para agendar uma avaliação do espaço.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1066759" y="6830331"/>
            <a:ext cx="609586" cy="609586"/>
          </a:xfrm>
          <a:prstGeom prst="roundRect">
            <a:avLst>
              <a:gd fmla="val 12500" name="adj"/>
            </a:avLst>
          </a:prstGeom>
          <a:solidFill>
            <a:srgbClr val="1F4D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4"/>
          <p:cNvSpPr/>
          <p:nvPr/>
        </p:nvSpPr>
        <p:spPr>
          <a:xfrm>
            <a:off x="1809682" y="6830331"/>
            <a:ext cx="609586" cy="609586"/>
          </a:xfrm>
          <a:prstGeom prst="roundRect">
            <a:avLst>
              <a:gd fmla="val 12500" name="adj"/>
            </a:avLst>
          </a:prstGeom>
          <a:solidFill>
            <a:srgbClr val="C7E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2552605" y="6830331"/>
            <a:ext cx="609586" cy="609586"/>
          </a:xfrm>
          <a:prstGeom prst="roundRect">
            <a:avLst>
              <a:gd fmla="val 12500" name="adj"/>
            </a:avLst>
          </a:prstGeom>
          <a:solidFill>
            <a:srgbClr val="F3ED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4"/>
          <p:cNvSpPr/>
          <p:nvPr/>
        </p:nvSpPr>
        <p:spPr>
          <a:xfrm>
            <a:off x="3295528" y="6830331"/>
            <a:ext cx="609586" cy="609586"/>
          </a:xfrm>
          <a:prstGeom prst="roundRect">
            <a:avLst>
              <a:gd fmla="val 12500" name="adj"/>
            </a:avLst>
          </a:prstGeom>
          <a:solidFill>
            <a:srgbClr val="3A3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8988001" y="2463173"/>
            <a:ext cx="8233171" cy="937279"/>
          </a:xfrm>
          <a:prstGeom prst="roundRect">
            <a:avLst>
              <a:gd fmla="val 406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"/>
          <p:cNvSpPr/>
          <p:nvPr/>
        </p:nvSpPr>
        <p:spPr>
          <a:xfrm>
            <a:off x="9320496" y="2738505"/>
            <a:ext cx="2409825" cy="4247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Público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11777919" y="2738505"/>
            <a:ext cx="5621834" cy="4247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People, Facilities e Workplace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8988001" y="3590952"/>
            <a:ext cx="8233171" cy="1323894"/>
          </a:xfrm>
          <a:prstGeom prst="roundRect">
            <a:avLst>
              <a:gd fmla="val 28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9320496" y="3866284"/>
            <a:ext cx="2266950" cy="811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Tom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11777919" y="3866284"/>
            <a:ext cx="5264081" cy="811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Claro, humano, confiante, sem discurso genérico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8988001" y="5105346"/>
            <a:ext cx="8233171" cy="937279"/>
          </a:xfrm>
          <a:prstGeom prst="roundRect">
            <a:avLst>
              <a:gd fmla="val 406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9320496" y="5380678"/>
            <a:ext cx="2409825" cy="4247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CTA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11777919" y="5380678"/>
            <a:ext cx="5621834" cy="4247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Agendar uma avaliação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8988001" y="6233125"/>
            <a:ext cx="8233171" cy="1323894"/>
          </a:xfrm>
          <a:prstGeom prst="roundRect">
            <a:avLst>
              <a:gd fmla="val 28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9320496" y="6508457"/>
            <a:ext cx="2266950" cy="811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Seções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11777919" y="6508457"/>
            <a:ext cx="5264081" cy="811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Hero, prova social, serviços, processo, projeto, depoimento, FAQ e CTA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ESCOPO PEQUENO, DISCUSSÃO GRANDE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O plugin do exercício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1066759" y="2401883"/>
            <a:ext cx="17769928" cy="4364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raiz-campaign-bar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1066759" y="3219288"/>
            <a:ext cx="7943904" cy="1103019"/>
          </a:xfrm>
          <a:prstGeom prst="roundRect">
            <a:avLst>
              <a:gd fmla="val 345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1418318" y="3570847"/>
            <a:ext cx="7479103" cy="4380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14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Uma barra de campanha com texto e URL editáveis.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9277336" y="3219288"/>
            <a:ext cx="7943904" cy="1103019"/>
          </a:xfrm>
          <a:prstGeom prst="roundRect">
            <a:avLst>
              <a:gd fmla="val 345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9628895" y="3570847"/>
            <a:ext cx="7479103" cy="4380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14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Opção de ativar e desativar no wp-admin.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1066759" y="4588980"/>
            <a:ext cx="7943904" cy="1103019"/>
          </a:xfrm>
          <a:prstGeom prst="roundRect">
            <a:avLst>
              <a:gd fmla="val 345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1418318" y="4940539"/>
            <a:ext cx="7479103" cy="4380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14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Sanitização na entrada, escaping na saída.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9277336" y="4588980"/>
            <a:ext cx="7943904" cy="1103019"/>
          </a:xfrm>
          <a:prstGeom prst="roundRect">
            <a:avLst>
              <a:gd fmla="val 345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9628895" y="4940539"/>
            <a:ext cx="7479103" cy="4380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14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Sem dependência direta do tema. Plugin Check no fim.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58E9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/>
          <p:nvPr/>
        </p:nvSpPr>
        <p:spPr>
          <a:xfrm>
            <a:off x="1066759" y="4229019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DEMO GUIADA · MÓDULO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1066759" y="4858494"/>
            <a:ext cx="13620750" cy="970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6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landing page a partir do brief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15657733" y="6549452"/>
            <a:ext cx="2055093" cy="28613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785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500"/>
              <a:buFont typeface="Arial"/>
              <a:buNone/>
            </a:pPr>
            <a:r>
              <a:rPr b="1" i="0" lang="en-US" sz="28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8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PROMPT COMPLETO NO HANDOUT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A forma do prompt inicial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1066759" y="2720510"/>
            <a:ext cx="647700" cy="406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1943019" y="2668556"/>
            <a:ext cx="16806043" cy="4914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76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Leia o brief e os assets antes de editar qualquer arquivo.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1066759" y="3383337"/>
            <a:ext cx="647700" cy="406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1943019" y="3331382"/>
            <a:ext cx="16806043" cy="4914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76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Inspecione este site e proponha um plano curto.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1066759" y="4046163"/>
            <a:ext cx="647700" cy="406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1943019" y="3994209"/>
            <a:ext cx="16806043" cy="4914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76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Use block theme, theme.json, templates, patterns e blocos nativos.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1066759" y="4708989"/>
            <a:ext cx="647700" cy="406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1943019" y="4657035"/>
            <a:ext cx="16806043" cy="4914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76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Preserve acessibilidade, responsividade e hierarquia de headings.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1066759" y="5371816"/>
            <a:ext cx="647700" cy="406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1943019" y="5319861"/>
            <a:ext cx="16806043" cy="4914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767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Valide o markup, tire screenshots desktop e mobile, corrija o que achar.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1066759" y="8021903"/>
            <a:ext cx="16154480" cy="1084010"/>
          </a:xfrm>
          <a:prstGeom prst="roundRect">
            <a:avLst>
              <a:gd fmla="val 1054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7"/>
          <p:cNvSpPr/>
          <p:nvPr/>
        </p:nvSpPr>
        <p:spPr>
          <a:xfrm>
            <a:off x="1447759" y="8364803"/>
            <a:ext cx="15877115" cy="4363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Não implemente antes de eu aprovar o plano.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8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CHECKPOINT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Checkpoint da landing page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8"/>
          <p:cNvSpPr/>
          <p:nvPr/>
        </p:nvSpPr>
        <p:spPr>
          <a:xfrm>
            <a:off x="1066759" y="2668556"/>
            <a:ext cx="16154480" cy="1008784"/>
          </a:xfrm>
          <a:prstGeom prst="roundRect">
            <a:avLst>
              <a:gd fmla="val 377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"/>
          <p:cNvSpPr/>
          <p:nvPr/>
        </p:nvSpPr>
        <p:spPr>
          <a:xfrm>
            <a:off x="1437368" y="2962965"/>
            <a:ext cx="15897896" cy="45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landing abre sem erros.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1066759" y="3867840"/>
            <a:ext cx="16154480" cy="1008784"/>
          </a:xfrm>
          <a:prstGeom prst="roundRect">
            <a:avLst>
              <a:gd fmla="val 377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"/>
          <p:cNvSpPr/>
          <p:nvPr/>
        </p:nvSpPr>
        <p:spPr>
          <a:xfrm>
            <a:off x="1437368" y="4162249"/>
            <a:ext cx="15897896" cy="45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 Site Editor reconhece os blocos.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1066759" y="5067124"/>
            <a:ext cx="16154480" cy="1008784"/>
          </a:xfrm>
          <a:prstGeom prst="roundRect">
            <a:avLst>
              <a:gd fmla="val 377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1437368" y="5361533"/>
            <a:ext cx="15897896" cy="45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Cores e tipografia vêm dos presets de theme.json.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1066759" y="6266408"/>
            <a:ext cx="16154480" cy="1008784"/>
          </a:xfrm>
          <a:prstGeom prst="roundRect">
            <a:avLst>
              <a:gd fmla="val 377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"/>
          <p:cNvSpPr/>
          <p:nvPr/>
        </p:nvSpPr>
        <p:spPr>
          <a:xfrm>
            <a:off x="1437368" y="6560817"/>
            <a:ext cx="15897896" cy="45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 CTA aparece sem scroll em desktop e faz sentido em mobile.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1066759" y="7465692"/>
            <a:ext cx="16154480" cy="1008784"/>
          </a:xfrm>
          <a:prstGeom prst="roundRect">
            <a:avLst>
              <a:gd fmla="val 377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"/>
          <p:cNvSpPr/>
          <p:nvPr/>
        </p:nvSpPr>
        <p:spPr>
          <a:xfrm>
            <a:off x="1437368" y="7760101"/>
            <a:ext cx="15897896" cy="45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 agente diz o que mudou e o que ainda depende de decisão humana.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58E9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"/>
          <p:cNvSpPr/>
          <p:nvPr/>
        </p:nvSpPr>
        <p:spPr>
          <a:xfrm>
            <a:off x="1066759" y="4229019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MÃO NA MASSA · MÓDULO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1066759" y="4858494"/>
            <a:ext cx="13620750" cy="970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6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Feedback visual com Annotate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/>
          <p:nvPr/>
        </p:nvSpPr>
        <p:spPr>
          <a:xfrm>
            <a:off x="15657733" y="6549452"/>
            <a:ext cx="2055093" cy="28613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785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500"/>
              <a:buFont typeface="Arial"/>
              <a:buNone/>
            </a:pPr>
            <a:r>
              <a:rPr b="1" i="0" lang="en-US" sz="28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8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"/>
          <p:cNvSpPr/>
          <p:nvPr/>
        </p:nvSpPr>
        <p:spPr>
          <a:xfrm>
            <a:off x="1066759" y="1018255"/>
            <a:ext cx="240818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LABORATÓRIO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3484607" y="914346"/>
            <a:ext cx="1366039" cy="5325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97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0"/>
          <p:cNvSpPr/>
          <p:nvPr/>
        </p:nvSpPr>
        <p:spPr>
          <a:xfrm>
            <a:off x="3721866" y="1018255"/>
            <a:ext cx="967721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25 min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1066759" y="1713553"/>
            <a:ext cx="8507759" cy="737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9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Duas mudanças no hero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1066759" y="2679650"/>
            <a:ext cx="773432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1066759" y="2954982"/>
            <a:ext cx="8507759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EXEMPLOS DE PEDIDO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1066759" y="3420814"/>
            <a:ext cx="8507759" cy="4247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"Reduza a altura do hero em telas grandes sem esconder o CTA."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1066759" y="3978852"/>
            <a:ext cx="7966357" cy="811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"Use o verde do theme.json no botão, sem adicionar cor hard-coded."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9486845" y="2442608"/>
            <a:ext cx="7734394" cy="830461"/>
          </a:xfrm>
          <a:prstGeom prst="roundRect">
            <a:avLst>
              <a:gd fmla="val 13763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0"/>
          <p:cNvSpPr/>
          <p:nvPr/>
        </p:nvSpPr>
        <p:spPr>
          <a:xfrm>
            <a:off x="9772595" y="2684183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10534528" y="2671194"/>
            <a:ext cx="7041058" cy="411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Executar /annotate.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9486845" y="3425414"/>
            <a:ext cx="7734394" cy="830461"/>
          </a:xfrm>
          <a:prstGeom prst="roundRect">
            <a:avLst>
              <a:gd fmla="val 13763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0"/>
          <p:cNvSpPr/>
          <p:nvPr/>
        </p:nvSpPr>
        <p:spPr>
          <a:xfrm>
            <a:off x="9772595" y="3666990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10534528" y="3654001"/>
            <a:ext cx="7041058" cy="411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Selecionar hero, CTA e prova social.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9486845" y="4408221"/>
            <a:ext cx="7734394" cy="1203749"/>
          </a:xfrm>
          <a:prstGeom prst="roundRect">
            <a:avLst>
              <a:gd fmla="val 9495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0"/>
          <p:cNvSpPr/>
          <p:nvPr/>
        </p:nvSpPr>
        <p:spPr>
          <a:xfrm>
            <a:off x="9772595" y="4649796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10534528" y="4636808"/>
            <a:ext cx="6592991" cy="7846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Registrar pedidos concretos de espaçamento, contraste e copy.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9486845" y="5764316"/>
            <a:ext cx="7734394" cy="830461"/>
          </a:xfrm>
          <a:prstGeom prst="roundRect">
            <a:avLst>
              <a:gd fmla="val 13763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0"/>
          <p:cNvSpPr/>
          <p:nvPr/>
        </p:nvSpPr>
        <p:spPr>
          <a:xfrm>
            <a:off x="9772595" y="6005891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10534528" y="5992902"/>
            <a:ext cx="7041058" cy="411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Enviar as anotações em conjunto.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9486845" y="6747123"/>
            <a:ext cx="7734394" cy="830461"/>
          </a:xfrm>
          <a:prstGeom prst="roundRect">
            <a:avLst>
              <a:gd fmla="val 13763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0"/>
          <p:cNvSpPr/>
          <p:nvPr/>
        </p:nvSpPr>
        <p:spPr>
          <a:xfrm>
            <a:off x="9772595" y="6988698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10534528" y="6975709"/>
            <a:ext cx="7041058" cy="411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Revisar diff e screenshot antes de aceitar.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1"/>
          <p:cNvSpPr/>
          <p:nvPr/>
        </p:nvSpPr>
        <p:spPr>
          <a:xfrm>
            <a:off x="1066759" y="3375895"/>
            <a:ext cx="1398538" cy="1066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158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2566744" y="4059964"/>
            <a:ext cx="188096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DEMO GUIADA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1066759" y="4671241"/>
            <a:ext cx="8062689" cy="8054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79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Plugin spec-driven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1066759" y="5705258"/>
            <a:ext cx="7549609" cy="977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116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Primeiro a especificação e o plano de testes. Só depois o código.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9158476" y="2320095"/>
            <a:ext cx="8062764" cy="880521"/>
          </a:xfrm>
          <a:prstGeom prst="roundRect">
            <a:avLst>
              <a:gd fmla="val 432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1"/>
          <p:cNvSpPr/>
          <p:nvPr/>
        </p:nvSpPr>
        <p:spPr>
          <a:xfrm>
            <a:off x="9490986" y="2576404"/>
            <a:ext cx="7639628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Entreviste-me sobre comportamento e critérios de aceite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9158476" y="3352962"/>
            <a:ext cx="8062764" cy="880521"/>
          </a:xfrm>
          <a:prstGeom prst="roundRect">
            <a:avLst>
              <a:gd fmla="val 432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1"/>
          <p:cNvSpPr/>
          <p:nvPr/>
        </p:nvSpPr>
        <p:spPr>
          <a:xfrm>
            <a:off x="9490986" y="3609271"/>
            <a:ext cx="7639628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Produza especificação curta e plano de testes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9158476" y="4385829"/>
            <a:ext cx="8062764" cy="880521"/>
          </a:xfrm>
          <a:prstGeom prst="roundRect">
            <a:avLst>
              <a:gd fmla="val 432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1"/>
          <p:cNvSpPr/>
          <p:nvPr/>
        </p:nvSpPr>
        <p:spPr>
          <a:xfrm>
            <a:off x="9490986" y="4642138"/>
            <a:ext cx="7639628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Implemente seguindo a skill Plugin Development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9158476" y="5418697"/>
            <a:ext cx="8062764" cy="880521"/>
          </a:xfrm>
          <a:prstGeom prst="roundRect">
            <a:avLst>
              <a:gd fmla="val 432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9490986" y="5675006"/>
            <a:ext cx="7639628" cy="4060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Ative por WP-CLI, teste front-end e wp-admin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9158476" y="6451564"/>
            <a:ext cx="8062764" cy="1248533"/>
          </a:xfrm>
          <a:prstGeom prst="roundRect">
            <a:avLst>
              <a:gd fmla="val 30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1"/>
          <p:cNvSpPr/>
          <p:nvPr/>
        </p:nvSpPr>
        <p:spPr>
          <a:xfrm>
            <a:off x="9490986" y="6707873"/>
            <a:ext cx="7639628" cy="7740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Rode Plugin Check e peça revisão de segurança em nova conversa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2"/>
          <p:cNvSpPr/>
          <p:nvPr/>
        </p:nvSpPr>
        <p:spPr>
          <a:xfrm>
            <a:off x="1066759" y="914346"/>
            <a:ext cx="1398538" cy="1066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158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/>
          <p:nvPr/>
        </p:nvSpPr>
        <p:spPr>
          <a:xfrm>
            <a:off x="2566744" y="1598414"/>
            <a:ext cx="188096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DEMO GUIADA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1066759" y="2095365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Debug, performance e SEO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1066759" y="3296272"/>
            <a:ext cx="5207022" cy="1934292"/>
          </a:xfrm>
          <a:prstGeom prst="roundRect">
            <a:avLst>
              <a:gd fmla="val 197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2"/>
          <p:cNvSpPr/>
          <p:nvPr/>
        </p:nvSpPr>
        <p:spPr>
          <a:xfrm>
            <a:off x="1418264" y="3647777"/>
            <a:ext cx="4954414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WP_DEBUG_LOG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2"/>
          <p:cNvSpPr/>
          <p:nvPr/>
        </p:nvSpPr>
        <p:spPr>
          <a:xfrm>
            <a:off x="1418264" y="4105830"/>
            <a:ext cx="4639133" cy="811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Erro controlado no plugin e busca da causa em debug.log.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6540455" y="3296272"/>
            <a:ext cx="5207022" cy="1934292"/>
          </a:xfrm>
          <a:prstGeom prst="roundRect">
            <a:avLst>
              <a:gd fmla="val 197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6891960" y="3647777"/>
            <a:ext cx="4954414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/need-for-speed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6891960" y="4105830"/>
            <a:ext cx="4639133" cy="811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Diagnóstico de performance com evidência, não palpite.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12014150" y="3296272"/>
            <a:ext cx="5207090" cy="1934292"/>
          </a:xfrm>
          <a:prstGeom prst="roundRect">
            <a:avLst>
              <a:gd fmla="val 197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2"/>
          <p:cNvSpPr/>
          <p:nvPr/>
        </p:nvSpPr>
        <p:spPr>
          <a:xfrm>
            <a:off x="12365655" y="3647777"/>
            <a:ext cx="495448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/rank-me-up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12365655" y="4105830"/>
            <a:ext cx="4639202" cy="811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Revisão de SEO, se o comando existir no build instalado.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1066759" y="5725824"/>
            <a:ext cx="13735050" cy="977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116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Reproduzir localmente, achar evidência, corrigir e validar — antes de tocar em staging ou produção.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58E9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3"/>
          <p:cNvSpPr/>
          <p:nvPr/>
        </p:nvSpPr>
        <p:spPr>
          <a:xfrm>
            <a:off x="1066759" y="4229019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MÃO NA MASSA · MÓDULO 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1066759" y="4858494"/>
            <a:ext cx="13620750" cy="970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6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Preview para feedback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/>
          <p:nvPr/>
        </p:nvSpPr>
        <p:spPr>
          <a:xfrm>
            <a:off x="15657733" y="6549452"/>
            <a:ext cx="2055093" cy="28613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785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500"/>
              <a:buFont typeface="Arial"/>
              <a:buNone/>
            </a:pPr>
            <a:r>
              <a:rPr b="1" i="0" lang="en-US" sz="28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8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3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4"/>
          <p:cNvSpPr/>
          <p:nvPr/>
        </p:nvSpPr>
        <p:spPr>
          <a:xfrm>
            <a:off x="1066759" y="1018255"/>
            <a:ext cx="240818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LABORATÓRIO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4"/>
          <p:cNvSpPr/>
          <p:nvPr/>
        </p:nvSpPr>
        <p:spPr>
          <a:xfrm>
            <a:off x="3484607" y="914346"/>
            <a:ext cx="1366039" cy="5325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97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4"/>
          <p:cNvSpPr/>
          <p:nvPr/>
        </p:nvSpPr>
        <p:spPr>
          <a:xfrm>
            <a:off x="3721866" y="1018255"/>
            <a:ext cx="967721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30 min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4"/>
          <p:cNvSpPr/>
          <p:nvPr/>
        </p:nvSpPr>
        <p:spPr>
          <a:xfrm>
            <a:off x="1066759" y="1713553"/>
            <a:ext cx="7966357" cy="14369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9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Preview cruzado entre duplas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4"/>
          <p:cNvSpPr/>
          <p:nvPr/>
        </p:nvSpPr>
        <p:spPr>
          <a:xfrm>
            <a:off x="1066759" y="3379075"/>
            <a:ext cx="773432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4"/>
          <p:cNvSpPr/>
          <p:nvPr/>
        </p:nvSpPr>
        <p:spPr>
          <a:xfrm>
            <a:off x="1066759" y="3654407"/>
            <a:ext cx="8507759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CRITÉRIO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1066759" y="4082152"/>
            <a:ext cx="7966357" cy="811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Dois comentários objetivos: o que está confuso e o que falta para agendar a avaliação.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9486845" y="3120655"/>
            <a:ext cx="7734394" cy="830461"/>
          </a:xfrm>
          <a:prstGeom prst="roundRect">
            <a:avLst>
              <a:gd fmla="val 13763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4"/>
          <p:cNvSpPr/>
          <p:nvPr/>
        </p:nvSpPr>
        <p:spPr>
          <a:xfrm>
            <a:off x="9772595" y="3362230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10534528" y="3349241"/>
            <a:ext cx="7041058" cy="411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Criar o Preview e renomeá-lo no Studio.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4"/>
          <p:cNvSpPr/>
          <p:nvPr/>
        </p:nvSpPr>
        <p:spPr>
          <a:xfrm>
            <a:off x="9486845" y="4103462"/>
            <a:ext cx="7734394" cy="830461"/>
          </a:xfrm>
          <a:prstGeom prst="roundRect">
            <a:avLst>
              <a:gd fmla="val 13763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4"/>
          <p:cNvSpPr/>
          <p:nvPr/>
        </p:nvSpPr>
        <p:spPr>
          <a:xfrm>
            <a:off x="9772595" y="4345037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10534528" y="4332048"/>
            <a:ext cx="7041058" cy="411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Compartilhar a URL com outra dupla.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9486845" y="5086269"/>
            <a:ext cx="7734394" cy="830461"/>
          </a:xfrm>
          <a:prstGeom prst="roundRect">
            <a:avLst>
              <a:gd fmla="val 13763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4"/>
          <p:cNvSpPr/>
          <p:nvPr/>
        </p:nvSpPr>
        <p:spPr>
          <a:xfrm>
            <a:off x="9772595" y="5327844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4"/>
          <p:cNvSpPr/>
          <p:nvPr/>
        </p:nvSpPr>
        <p:spPr>
          <a:xfrm>
            <a:off x="10534528" y="5314855"/>
            <a:ext cx="7041058" cy="411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Receber dois comentários e corrigir localmente.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9486845" y="6069075"/>
            <a:ext cx="7734394" cy="830461"/>
          </a:xfrm>
          <a:prstGeom prst="roundRect">
            <a:avLst>
              <a:gd fmla="val 13763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4"/>
          <p:cNvSpPr/>
          <p:nvPr/>
        </p:nvSpPr>
        <p:spPr>
          <a:xfrm>
            <a:off x="9772595" y="6310650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4"/>
          <p:cNvSpPr/>
          <p:nvPr/>
        </p:nvSpPr>
        <p:spPr>
          <a:xfrm>
            <a:off x="10534528" y="6297662"/>
            <a:ext cx="7041058" cy="411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Usar Update para substituir o snapshot.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DIGA ISSO AO CLIENTE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5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Os limites do Preview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5"/>
          <p:cNvSpPr/>
          <p:nvPr/>
        </p:nvSpPr>
        <p:spPr>
          <a:xfrm>
            <a:off x="1066759" y="2668556"/>
            <a:ext cx="5207022" cy="2161999"/>
          </a:xfrm>
          <a:prstGeom prst="roundRect">
            <a:avLst>
              <a:gd fmla="val 176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5"/>
          <p:cNvSpPr/>
          <p:nvPr/>
        </p:nvSpPr>
        <p:spPr>
          <a:xfrm>
            <a:off x="1418264" y="3020061"/>
            <a:ext cx="495441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rPr>
              <a:t>público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1418264" y="3705820"/>
            <a:ext cx="4639133" cy="811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URL wp.build é aberta a quem tiver o link.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6540455" y="2668556"/>
            <a:ext cx="5207022" cy="2161999"/>
          </a:xfrm>
          <a:prstGeom prst="roundRect">
            <a:avLst>
              <a:gd fmla="val 176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5"/>
          <p:cNvSpPr/>
          <p:nvPr/>
        </p:nvSpPr>
        <p:spPr>
          <a:xfrm>
            <a:off x="6891960" y="3020061"/>
            <a:ext cx="495441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7 dias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5"/>
          <p:cNvSpPr/>
          <p:nvPr/>
        </p:nvSpPr>
        <p:spPr>
          <a:xfrm>
            <a:off x="6891960" y="3705820"/>
            <a:ext cx="4639133" cy="811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Expira sem atualização. Atualizar reinicia o prazo.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5"/>
          <p:cNvSpPr/>
          <p:nvPr/>
        </p:nvSpPr>
        <p:spPr>
          <a:xfrm>
            <a:off x="12014150" y="2668556"/>
            <a:ext cx="5207090" cy="2161999"/>
          </a:xfrm>
          <a:prstGeom prst="roundRect">
            <a:avLst>
              <a:gd fmla="val 176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5"/>
          <p:cNvSpPr/>
          <p:nvPr/>
        </p:nvSpPr>
        <p:spPr>
          <a:xfrm>
            <a:off x="12365655" y="3020061"/>
            <a:ext cx="495448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5"/>
          <p:cNvSpPr/>
          <p:nvPr/>
        </p:nvSpPr>
        <p:spPr>
          <a:xfrm>
            <a:off x="12365655" y="3705820"/>
            <a:ext cx="4954488" cy="4247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Previews simultâneos por conta.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1066759" y="7978269"/>
            <a:ext cx="16154480" cy="1127644"/>
          </a:xfrm>
          <a:prstGeom prst="roundRect">
            <a:avLst>
              <a:gd fmla="val 10136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1447759" y="8321169"/>
            <a:ext cx="15877115" cy="479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Studio envia wp-content. Use .deployignore e nunca inclua dados ou segredos reais. Preview não é hosting.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5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58E9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6"/>
          <p:cNvSpPr/>
          <p:nvPr/>
        </p:nvSpPr>
        <p:spPr>
          <a:xfrm>
            <a:off x="1066759" y="4229019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DEMO GUIADA · MÓDULO 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1066759" y="4858494"/>
            <a:ext cx="13620750" cy="9707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65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Sync seletivo para staging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15657733" y="6549452"/>
            <a:ext cx="2055093" cy="28613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7854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500"/>
              <a:buFont typeface="Arial"/>
              <a:buNone/>
            </a:pPr>
            <a:r>
              <a:rPr b="1" i="0" lang="en-US" sz="28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8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858E9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7"/>
          <p:cNvSpPr/>
          <p:nvPr/>
        </p:nvSpPr>
        <p:spPr>
          <a:xfrm>
            <a:off x="1066759" y="2651711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 REGRA PRINCIPAL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1066759" y="3395514"/>
            <a:ext cx="14716125" cy="25024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95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00"/>
              <a:buFont typeface="Arial"/>
              <a:buNone/>
            </a:pPr>
            <a:r>
              <a:rPr b="1" i="0" lang="en-US" sz="9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Sync substitui. Sync não faz merge.</a:t>
            </a:r>
            <a:endParaRPr b="0" i="0" sz="9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7"/>
          <p:cNvSpPr/>
          <p:nvPr/>
        </p:nvSpPr>
        <p:spPr>
          <a:xfrm>
            <a:off x="1066759" y="6278923"/>
            <a:ext cx="12753975" cy="112765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3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Vale nas duas direções: o Pull também substitui os itens locais que você selecionou.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7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8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FLUXO DO EXERCÍCIO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8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O fluxo seguro de Sync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8"/>
          <p:cNvSpPr/>
          <p:nvPr/>
        </p:nvSpPr>
        <p:spPr>
          <a:xfrm>
            <a:off x="1066759" y="3220979"/>
            <a:ext cx="78105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8"/>
          <p:cNvSpPr/>
          <p:nvPr/>
        </p:nvSpPr>
        <p:spPr>
          <a:xfrm>
            <a:off x="1066759" y="2660776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8"/>
          <p:cNvSpPr/>
          <p:nvPr/>
        </p:nvSpPr>
        <p:spPr>
          <a:xfrm>
            <a:off x="1828692" y="2630469"/>
            <a:ext cx="77534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Conectar um staging descartável.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8"/>
          <p:cNvSpPr/>
          <p:nvPr/>
        </p:nvSpPr>
        <p:spPr>
          <a:xfrm>
            <a:off x="9410673" y="3220979"/>
            <a:ext cx="78105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8"/>
          <p:cNvSpPr/>
          <p:nvPr/>
        </p:nvSpPr>
        <p:spPr>
          <a:xfrm>
            <a:off x="9410673" y="2660776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8"/>
          <p:cNvSpPr/>
          <p:nvPr/>
        </p:nvSpPr>
        <p:spPr>
          <a:xfrm>
            <a:off x="10172605" y="2630469"/>
            <a:ext cx="77534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Abrir o Push e marcar só o componente alterado.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8"/>
          <p:cNvSpPr/>
          <p:nvPr/>
        </p:nvSpPr>
        <p:spPr>
          <a:xfrm>
            <a:off x="1066759" y="4048734"/>
            <a:ext cx="78105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8"/>
          <p:cNvSpPr/>
          <p:nvPr/>
        </p:nvSpPr>
        <p:spPr>
          <a:xfrm>
            <a:off x="1066759" y="3488531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8"/>
          <p:cNvSpPr/>
          <p:nvPr/>
        </p:nvSpPr>
        <p:spPr>
          <a:xfrm>
            <a:off x="1828692" y="3458224"/>
            <a:ext cx="77534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Pull seletivo do tema ou plugin, sem database.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8"/>
          <p:cNvSpPr/>
          <p:nvPr/>
        </p:nvSpPr>
        <p:spPr>
          <a:xfrm>
            <a:off x="9410673" y="4048734"/>
            <a:ext cx="78105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8"/>
          <p:cNvSpPr/>
          <p:nvPr/>
        </p:nvSpPr>
        <p:spPr>
          <a:xfrm>
            <a:off x="9410673" y="3488531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10172605" y="3458224"/>
            <a:ext cx="77534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Mostrar a opção de database — e cancelá-la.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1066759" y="4876489"/>
            <a:ext cx="78105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8"/>
          <p:cNvSpPr/>
          <p:nvPr/>
        </p:nvSpPr>
        <p:spPr>
          <a:xfrm>
            <a:off x="1066759" y="4316286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1828692" y="4285979"/>
            <a:ext cx="77534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Aplicar e testar a mudança localmente.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8"/>
          <p:cNvSpPr/>
          <p:nvPr/>
        </p:nvSpPr>
        <p:spPr>
          <a:xfrm>
            <a:off x="9410673" y="4876489"/>
            <a:ext cx="78105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8"/>
          <p:cNvSpPr/>
          <p:nvPr/>
        </p:nvSpPr>
        <p:spPr>
          <a:xfrm>
            <a:off x="9410673" y="4316286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8"/>
          <p:cNvSpPr/>
          <p:nvPr/>
        </p:nvSpPr>
        <p:spPr>
          <a:xfrm>
            <a:off x="10172605" y="4285979"/>
            <a:ext cx="77534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Confirmar o Push seletivo para staging.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1066759" y="5704244"/>
            <a:ext cx="78105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8"/>
          <p:cNvSpPr/>
          <p:nvPr/>
        </p:nvSpPr>
        <p:spPr>
          <a:xfrm>
            <a:off x="1066759" y="5144041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1828692" y="5113734"/>
            <a:ext cx="77534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Validar em Preview.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8"/>
          <p:cNvSpPr/>
          <p:nvPr/>
        </p:nvSpPr>
        <p:spPr>
          <a:xfrm>
            <a:off x="9410673" y="5704244"/>
            <a:ext cx="78105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8"/>
          <p:cNvSpPr/>
          <p:nvPr/>
        </p:nvSpPr>
        <p:spPr>
          <a:xfrm>
            <a:off x="9410673" y="5144041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8"/>
          <p:cNvSpPr/>
          <p:nvPr/>
        </p:nvSpPr>
        <p:spPr>
          <a:xfrm>
            <a:off x="10172605" y="5113734"/>
            <a:ext cx="77534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Conferir o resultado e o backup gerado antes do Sync.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8"/>
          <p:cNvSpPr/>
          <p:nvPr/>
        </p:nvSpPr>
        <p:spPr>
          <a:xfrm>
            <a:off x="1066759" y="6017662"/>
            <a:ext cx="17769928" cy="4095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O .deployignore vale para Sync e Preview. Studio ainda exclui database, db.php, debug.log e cache do envio.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8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8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9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ALERTAS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9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Onde o Sync machuca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9"/>
          <p:cNvSpPr/>
          <p:nvPr/>
        </p:nvSpPr>
        <p:spPr>
          <a:xfrm>
            <a:off x="1066759" y="2668556"/>
            <a:ext cx="16154480" cy="1051471"/>
          </a:xfrm>
          <a:prstGeom prst="roundRect">
            <a:avLst>
              <a:gd fmla="val 10870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9"/>
          <p:cNvSpPr/>
          <p:nvPr/>
        </p:nvSpPr>
        <p:spPr>
          <a:xfrm>
            <a:off x="1428709" y="2973356"/>
            <a:ext cx="15915215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Incluir database num Push substitui o banco remoto inteiro.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9"/>
          <p:cNvSpPr/>
          <p:nvPr/>
        </p:nvSpPr>
        <p:spPr>
          <a:xfrm>
            <a:off x="1066759" y="3929536"/>
            <a:ext cx="16154480" cy="1051471"/>
          </a:xfrm>
          <a:prstGeom prst="roundRect">
            <a:avLst>
              <a:gd fmla="val 10870" name="adj"/>
            </a:avLst>
          </a:prstGeom>
          <a:solidFill>
            <a:srgbClr val="D97757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9"/>
          <p:cNvSpPr/>
          <p:nvPr/>
        </p:nvSpPr>
        <p:spPr>
          <a:xfrm>
            <a:off x="1428709" y="4234336"/>
            <a:ext cx="15915215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 WooCommerce isso apaga pedidos, clientes e alterações de produto criados depois do último Pull.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9"/>
          <p:cNvSpPr/>
          <p:nvPr/>
        </p:nvSpPr>
        <p:spPr>
          <a:xfrm>
            <a:off x="1066759" y="5190516"/>
            <a:ext cx="16154480" cy="1051471"/>
          </a:xfrm>
          <a:prstGeom prst="roundRect">
            <a:avLst>
              <a:gd fmla="val 10870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9"/>
          <p:cNvSpPr/>
          <p:nvPr/>
        </p:nvSpPr>
        <p:spPr>
          <a:xfrm>
            <a:off x="1428709" y="5495316"/>
            <a:ext cx="15915215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Mudanças paralelas de outra pessoa podem ser perdidas nas duas direções.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9"/>
          <p:cNvSpPr/>
          <p:nvPr/>
        </p:nvSpPr>
        <p:spPr>
          <a:xfrm>
            <a:off x="1066759" y="6451496"/>
            <a:ext cx="16154480" cy="1051471"/>
          </a:xfrm>
          <a:prstGeom prst="roundRect">
            <a:avLst>
              <a:gd fmla="val 10870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9"/>
          <p:cNvSpPr/>
          <p:nvPr/>
        </p:nvSpPr>
        <p:spPr>
          <a:xfrm>
            <a:off x="1428709" y="6756296"/>
            <a:ext cx="15915215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0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exercício nunca usa uma loja ou site de produção real.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9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9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0"/>
          <p:cNvSpPr/>
          <p:nvPr/>
        </p:nvSpPr>
        <p:spPr>
          <a:xfrm>
            <a:off x="1066759" y="1018255"/>
            <a:ext cx="240818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LABORATÓRIO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0"/>
          <p:cNvSpPr/>
          <p:nvPr/>
        </p:nvSpPr>
        <p:spPr>
          <a:xfrm>
            <a:off x="3484607" y="914346"/>
            <a:ext cx="1366039" cy="532534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D97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0"/>
          <p:cNvSpPr/>
          <p:nvPr/>
        </p:nvSpPr>
        <p:spPr>
          <a:xfrm>
            <a:off x="3721866" y="1018255"/>
            <a:ext cx="967721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15 min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0"/>
          <p:cNvSpPr/>
          <p:nvPr/>
        </p:nvSpPr>
        <p:spPr>
          <a:xfrm>
            <a:off x="1066759" y="1713553"/>
            <a:ext cx="8507759" cy="737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93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100"/>
              <a:buFont typeface="Arial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Escrever o plano de Sync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0"/>
          <p:cNvSpPr/>
          <p:nvPr/>
        </p:nvSpPr>
        <p:spPr>
          <a:xfrm>
            <a:off x="1066759" y="2679650"/>
            <a:ext cx="7966357" cy="8381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141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Três linhas por projeto, no README do tema. É o que a agência vai reler no próximo deploy.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0"/>
          <p:cNvSpPr/>
          <p:nvPr/>
        </p:nvSpPr>
        <p:spPr>
          <a:xfrm>
            <a:off x="9486845" y="3425414"/>
            <a:ext cx="7734394" cy="830461"/>
          </a:xfrm>
          <a:prstGeom prst="roundRect">
            <a:avLst>
              <a:gd fmla="val 13763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0"/>
          <p:cNvSpPr/>
          <p:nvPr/>
        </p:nvSpPr>
        <p:spPr>
          <a:xfrm>
            <a:off x="9772595" y="3666990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0"/>
          <p:cNvSpPr/>
          <p:nvPr/>
        </p:nvSpPr>
        <p:spPr>
          <a:xfrm>
            <a:off x="10534528" y="3654001"/>
            <a:ext cx="7041058" cy="411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sobe: tema, plugin, um por vez.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0"/>
          <p:cNvSpPr/>
          <p:nvPr/>
        </p:nvSpPr>
        <p:spPr>
          <a:xfrm>
            <a:off x="9486845" y="4408221"/>
            <a:ext cx="7734394" cy="1203749"/>
          </a:xfrm>
          <a:prstGeom prst="roundRect">
            <a:avLst>
              <a:gd fmla="val 9495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0"/>
          <p:cNvSpPr/>
          <p:nvPr/>
        </p:nvSpPr>
        <p:spPr>
          <a:xfrm>
            <a:off x="9772595" y="4649796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0"/>
          <p:cNvSpPr/>
          <p:nvPr/>
        </p:nvSpPr>
        <p:spPr>
          <a:xfrm>
            <a:off x="10534528" y="4636808"/>
            <a:ext cx="6592991" cy="7846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nunca sobe: database, uploads de cliente, segredos.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0"/>
          <p:cNvSpPr/>
          <p:nvPr/>
        </p:nvSpPr>
        <p:spPr>
          <a:xfrm>
            <a:off x="9486845" y="5764316"/>
            <a:ext cx="7734394" cy="830461"/>
          </a:xfrm>
          <a:prstGeom prst="roundRect">
            <a:avLst>
              <a:gd fmla="val 13763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0"/>
          <p:cNvSpPr/>
          <p:nvPr/>
        </p:nvSpPr>
        <p:spPr>
          <a:xfrm>
            <a:off x="9772595" y="6005891"/>
            <a:ext cx="609546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10534528" y="5992902"/>
            <a:ext cx="7041058" cy="411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4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Quem revisa e aprova antes do Push.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0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0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28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1"/>
          <p:cNvSpPr/>
          <p:nvPr/>
        </p:nvSpPr>
        <p:spPr>
          <a:xfrm>
            <a:off x="1066759" y="3375895"/>
            <a:ext cx="1398538" cy="1066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158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1"/>
          <p:cNvSpPr/>
          <p:nvPr/>
        </p:nvSpPr>
        <p:spPr>
          <a:xfrm>
            <a:off x="2566744" y="4059964"/>
            <a:ext cx="188096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DEMO GUIADA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1"/>
          <p:cNvSpPr/>
          <p:nvPr/>
        </p:nvSpPr>
        <p:spPr>
          <a:xfrm>
            <a:off x="1066759" y="4671241"/>
            <a:ext cx="8062689" cy="8054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79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Liberate para migração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1"/>
          <p:cNvSpPr/>
          <p:nvPr/>
        </p:nvSpPr>
        <p:spPr>
          <a:xfrm>
            <a:off x="1066759" y="5705258"/>
            <a:ext cx="7549609" cy="977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116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Uma origem pública, própria ou autorizada. Nada de site de terceiros.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1"/>
          <p:cNvSpPr/>
          <p:nvPr/>
        </p:nvSpPr>
        <p:spPr>
          <a:xfrm>
            <a:off x="9158476" y="2618563"/>
            <a:ext cx="8062764" cy="1471572"/>
          </a:xfrm>
          <a:prstGeom prst="roundRect">
            <a:avLst>
              <a:gd fmla="val 258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1"/>
          <p:cNvSpPr/>
          <p:nvPr/>
        </p:nvSpPr>
        <p:spPr>
          <a:xfrm>
            <a:off x="9529058" y="2951059"/>
            <a:ext cx="8053760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Blocks e produtos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1"/>
          <p:cNvSpPr/>
          <p:nvPr/>
        </p:nvSpPr>
        <p:spPr>
          <a:xfrm>
            <a:off x="9529058" y="3371024"/>
            <a:ext cx="8053760" cy="4247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Mais editável no WordPress. É a escolha do workshop.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1"/>
          <p:cNvSpPr/>
          <p:nvPr/>
        </p:nvSpPr>
        <p:spPr>
          <a:xfrm>
            <a:off x="9158476" y="4299644"/>
            <a:ext cx="8062764" cy="1471572"/>
          </a:xfrm>
          <a:prstGeom prst="roundRect">
            <a:avLst>
              <a:gd fmla="val 258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1"/>
          <p:cNvSpPr/>
          <p:nvPr/>
        </p:nvSpPr>
        <p:spPr>
          <a:xfrm>
            <a:off x="9529058" y="4632140"/>
            <a:ext cx="8053760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Replicação de tema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1"/>
          <p:cNvSpPr/>
          <p:nvPr/>
        </p:nvSpPr>
        <p:spPr>
          <a:xfrm>
            <a:off x="9529058" y="5052106"/>
            <a:ext cx="8053760" cy="4247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Mais fidelidade visual, menos editabilidade por blocos.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1"/>
          <p:cNvSpPr/>
          <p:nvPr/>
        </p:nvSpPr>
        <p:spPr>
          <a:xfrm>
            <a:off x="9158476" y="5980726"/>
            <a:ext cx="8062764" cy="1420903"/>
          </a:xfrm>
          <a:prstGeom prst="roundRect">
            <a:avLst>
              <a:gd fmla="val 8044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1"/>
          <p:cNvSpPr/>
          <p:nvPr/>
        </p:nvSpPr>
        <p:spPr>
          <a:xfrm>
            <a:off x="9520426" y="6304576"/>
            <a:ext cx="7580747" cy="8113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Registre três diferenças de paridade, acessibilidade ou conteúdo. Não prometa réplica perfeita.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1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1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29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2"/>
          <p:cNvSpPr/>
          <p:nvPr/>
        </p:nvSpPr>
        <p:spPr>
          <a:xfrm>
            <a:off x="1066759" y="914346"/>
            <a:ext cx="1398538" cy="10667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8158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2"/>
          <p:cNvSpPr/>
          <p:nvPr/>
        </p:nvSpPr>
        <p:spPr>
          <a:xfrm>
            <a:off x="2566744" y="1598414"/>
            <a:ext cx="188096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DEMO GUIADA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2"/>
          <p:cNvSpPr/>
          <p:nvPr/>
        </p:nvSpPr>
        <p:spPr>
          <a:xfrm>
            <a:off x="1066759" y="2095365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Manter o site com o MCP do WordPress.com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2"/>
          <p:cNvSpPr/>
          <p:nvPr/>
        </p:nvSpPr>
        <p:spPr>
          <a:xfrm>
            <a:off x="1066759" y="3258186"/>
            <a:ext cx="3867163" cy="2581965"/>
          </a:xfrm>
          <a:prstGeom prst="roundRect">
            <a:avLst>
              <a:gd fmla="val 14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2"/>
          <p:cNvSpPr/>
          <p:nvPr/>
        </p:nvSpPr>
        <p:spPr>
          <a:xfrm>
            <a:off x="1380178" y="3571604"/>
            <a:ext cx="3564359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01 · conectar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2"/>
          <p:cNvSpPr/>
          <p:nvPr/>
        </p:nvSpPr>
        <p:spPr>
          <a:xfrm>
            <a:off x="1380178" y="3980273"/>
            <a:ext cx="3337536" cy="8113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OAuth 2.1, só ferramentas read-only habilitadas.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2"/>
          <p:cNvSpPr/>
          <p:nvPr/>
        </p:nvSpPr>
        <p:spPr>
          <a:xfrm>
            <a:off x="5162509" y="3258186"/>
            <a:ext cx="3867163" cy="2581965"/>
          </a:xfrm>
          <a:prstGeom prst="roundRect">
            <a:avLst>
              <a:gd fmla="val 14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2"/>
          <p:cNvSpPr/>
          <p:nvPr/>
        </p:nvSpPr>
        <p:spPr>
          <a:xfrm>
            <a:off x="5475928" y="3571604"/>
            <a:ext cx="3564359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02 · consultar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2"/>
          <p:cNvSpPr/>
          <p:nvPr/>
        </p:nvSpPr>
        <p:spPr>
          <a:xfrm>
            <a:off x="5475928" y="3980273"/>
            <a:ext cx="3337536" cy="1197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Tema ativo, presets, plugins, atividades e drafts.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2"/>
          <p:cNvSpPr/>
          <p:nvPr/>
        </p:nvSpPr>
        <p:spPr>
          <a:xfrm>
            <a:off x="9258259" y="3258186"/>
            <a:ext cx="3867163" cy="2581965"/>
          </a:xfrm>
          <a:prstGeom prst="roundRect">
            <a:avLst>
              <a:gd fmla="val 14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32"/>
          <p:cNvSpPr/>
          <p:nvPr/>
        </p:nvSpPr>
        <p:spPr>
          <a:xfrm>
            <a:off x="9571677" y="3571604"/>
            <a:ext cx="3564359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03 · escrever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2"/>
          <p:cNvSpPr/>
          <p:nvPr/>
        </p:nvSpPr>
        <p:spPr>
          <a:xfrm>
            <a:off x="9571677" y="3980273"/>
            <a:ext cx="3337536" cy="11979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Liberar apenas Content Authoring. Criar como draft.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2"/>
          <p:cNvSpPr/>
          <p:nvPr/>
        </p:nvSpPr>
        <p:spPr>
          <a:xfrm>
            <a:off x="13354009" y="3258186"/>
            <a:ext cx="3867231" cy="2581965"/>
          </a:xfrm>
          <a:prstGeom prst="roundRect">
            <a:avLst>
              <a:gd fmla="val 147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2"/>
          <p:cNvSpPr/>
          <p:nvPr/>
        </p:nvSpPr>
        <p:spPr>
          <a:xfrm>
            <a:off x="13667427" y="3571604"/>
            <a:ext cx="3564433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04 · encerrar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2"/>
          <p:cNvSpPr/>
          <p:nvPr/>
        </p:nvSpPr>
        <p:spPr>
          <a:xfrm>
            <a:off x="13667427" y="3980273"/>
            <a:ext cx="3337606" cy="1584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3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Conferir _content_warnings, revisar no WP Admin, revogar.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2"/>
          <p:cNvSpPr/>
          <p:nvPr/>
        </p:nvSpPr>
        <p:spPr>
          <a:xfrm>
            <a:off x="1066759" y="6259237"/>
            <a:ext cx="16154480" cy="1114317"/>
          </a:xfrm>
          <a:prstGeom prst="roundRect">
            <a:avLst>
              <a:gd fmla="val 10257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32"/>
          <p:cNvSpPr/>
          <p:nvPr/>
        </p:nvSpPr>
        <p:spPr>
          <a:xfrm>
            <a:off x="1447759" y="6602137"/>
            <a:ext cx="15877115" cy="4666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26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Fora do hands-on: publicação direta, exclusão de conteúdo, troca de tema, DNS e qualquer operação em produção.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2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2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3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ANTES DE COMEÇAR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3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Pré-requisitos dos participantes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3"/>
          <p:cNvSpPr/>
          <p:nvPr/>
        </p:nvSpPr>
        <p:spPr>
          <a:xfrm>
            <a:off x="1066759" y="2668556"/>
            <a:ext cx="7962913" cy="1455404"/>
          </a:xfrm>
          <a:prstGeom prst="roundRect">
            <a:avLst>
              <a:gd fmla="val 26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3"/>
          <p:cNvSpPr/>
          <p:nvPr/>
        </p:nvSpPr>
        <p:spPr>
          <a:xfrm>
            <a:off x="1437368" y="2982015"/>
            <a:ext cx="7460583" cy="8665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Máquina com permissão para instalar e atualizar o Studio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3"/>
          <p:cNvSpPr/>
          <p:nvPr/>
        </p:nvSpPr>
        <p:spPr>
          <a:xfrm>
            <a:off x="9258259" y="2668556"/>
            <a:ext cx="7962981" cy="1455404"/>
          </a:xfrm>
          <a:prstGeom prst="roundRect">
            <a:avLst>
              <a:gd fmla="val 26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3"/>
          <p:cNvSpPr/>
          <p:nvPr/>
        </p:nvSpPr>
        <p:spPr>
          <a:xfrm>
            <a:off x="9628868" y="2982015"/>
            <a:ext cx="7460652" cy="8665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WordPress Studio 1.15 ou mais recente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3"/>
          <p:cNvSpPr/>
          <p:nvPr/>
        </p:nvSpPr>
        <p:spPr>
          <a:xfrm>
            <a:off x="1066759" y="4352546"/>
            <a:ext cx="7962913" cy="1455404"/>
          </a:xfrm>
          <a:prstGeom prst="roundRect">
            <a:avLst>
              <a:gd fmla="val 26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3"/>
          <p:cNvSpPr/>
          <p:nvPr/>
        </p:nvSpPr>
        <p:spPr>
          <a:xfrm>
            <a:off x="1437368" y="4666005"/>
            <a:ext cx="7460583" cy="8665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Conta WordPress.com conectada ao Studio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3"/>
          <p:cNvSpPr/>
          <p:nvPr/>
        </p:nvSpPr>
        <p:spPr>
          <a:xfrm>
            <a:off x="9258259" y="4352546"/>
            <a:ext cx="7962981" cy="1455404"/>
          </a:xfrm>
          <a:prstGeom prst="roundRect">
            <a:avLst>
              <a:gd fmla="val 26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3"/>
          <p:cNvSpPr/>
          <p:nvPr/>
        </p:nvSpPr>
        <p:spPr>
          <a:xfrm>
            <a:off x="9628868" y="4666005"/>
            <a:ext cx="7460652" cy="8665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Studio CLI habilitado em Settings, e navegador atualizado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3"/>
          <p:cNvSpPr/>
          <p:nvPr/>
        </p:nvSpPr>
        <p:spPr>
          <a:xfrm>
            <a:off x="1066759" y="6036536"/>
            <a:ext cx="7962913" cy="1041120"/>
          </a:xfrm>
          <a:prstGeom prst="roundRect">
            <a:avLst>
              <a:gd fmla="val 36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3"/>
          <p:cNvSpPr/>
          <p:nvPr/>
        </p:nvSpPr>
        <p:spPr>
          <a:xfrm>
            <a:off x="1437368" y="6349995"/>
            <a:ext cx="7460583" cy="4523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Familiaridade com arquivos de tema e plugin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3"/>
          <p:cNvSpPr/>
          <p:nvPr/>
        </p:nvSpPr>
        <p:spPr>
          <a:xfrm>
            <a:off x="9258259" y="6036536"/>
            <a:ext cx="7962981" cy="1041120"/>
          </a:xfrm>
          <a:prstGeom prst="roundRect">
            <a:avLst>
              <a:gd fmla="val 36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3"/>
          <p:cNvSpPr/>
          <p:nvPr/>
        </p:nvSpPr>
        <p:spPr>
          <a:xfrm>
            <a:off x="9628868" y="6349995"/>
            <a:ext cx="7460652" cy="4523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Claude apenas para gerar a própria referência visual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3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3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31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4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ISSO MUDA O FORMATO DO HANDS-ON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4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Requisitos de conta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4"/>
          <p:cNvSpPr/>
          <p:nvPr/>
        </p:nvSpPr>
        <p:spPr>
          <a:xfrm>
            <a:off x="1066759" y="3591087"/>
            <a:ext cx="16154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34"/>
          <p:cNvSpPr/>
          <p:nvPr/>
        </p:nvSpPr>
        <p:spPr>
          <a:xfrm>
            <a:off x="1066759" y="2897142"/>
            <a:ext cx="3143250" cy="4364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Preview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4"/>
          <p:cNvSpPr/>
          <p:nvPr/>
        </p:nvSpPr>
        <p:spPr>
          <a:xfrm>
            <a:off x="4381432" y="2910131"/>
            <a:ext cx="14123789" cy="452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Login no WordPress.com. Não exige plano pago.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4"/>
          <p:cNvSpPr/>
          <p:nvPr/>
        </p:nvSpPr>
        <p:spPr>
          <a:xfrm>
            <a:off x="1066759" y="4974647"/>
            <a:ext cx="16154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4"/>
          <p:cNvSpPr/>
          <p:nvPr/>
        </p:nvSpPr>
        <p:spPr>
          <a:xfrm>
            <a:off x="1066759" y="3866419"/>
            <a:ext cx="3143250" cy="4364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Sync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4"/>
          <p:cNvSpPr/>
          <p:nvPr/>
        </p:nvSpPr>
        <p:spPr>
          <a:xfrm>
            <a:off x="4381432" y="3879408"/>
            <a:ext cx="13225002" cy="8666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Plano pago no WordPress.com com features ativadas, ou Pressable com Jetpack. Depende do Jetpack Backups: VaultPress Backup, Jetpack Security ou Jetpack Complete. Sites até 5 GB.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4"/>
          <p:cNvSpPr/>
          <p:nvPr/>
        </p:nvSpPr>
        <p:spPr>
          <a:xfrm>
            <a:off x="1066759" y="5943925"/>
            <a:ext cx="161544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4"/>
          <p:cNvSpPr/>
          <p:nvPr/>
        </p:nvSpPr>
        <p:spPr>
          <a:xfrm>
            <a:off x="1066759" y="5249980"/>
            <a:ext cx="3143250" cy="4364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MCP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4"/>
          <p:cNvSpPr/>
          <p:nvPr/>
        </p:nvSpPr>
        <p:spPr>
          <a:xfrm>
            <a:off x="4381432" y="5262968"/>
            <a:ext cx="14123789" cy="452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Plano pago e MCP habilitado na conta.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4"/>
          <p:cNvSpPr/>
          <p:nvPr/>
        </p:nvSpPr>
        <p:spPr>
          <a:xfrm>
            <a:off x="1066759" y="6219256"/>
            <a:ext cx="3143250" cy="4364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D97757"/>
                </a:solidFill>
                <a:latin typeface="Arial"/>
                <a:ea typeface="Arial"/>
                <a:cs typeface="Arial"/>
                <a:sym typeface="Arial"/>
              </a:rPr>
              <a:t>Sem plano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4"/>
          <p:cNvSpPr/>
          <p:nvPr/>
        </p:nvSpPr>
        <p:spPr>
          <a:xfrm>
            <a:off x="4381432" y="6232245"/>
            <a:ext cx="14123789" cy="452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Acompanha Sync e MCP na demonstração compartilhada.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4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4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5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INFRAESTRUTURA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5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O que o instrutor traz pronto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5"/>
          <p:cNvSpPr/>
          <p:nvPr/>
        </p:nvSpPr>
        <p:spPr>
          <a:xfrm>
            <a:off x="1066759" y="2668556"/>
            <a:ext cx="7962913" cy="1455404"/>
          </a:xfrm>
          <a:prstGeom prst="roundRect">
            <a:avLst>
              <a:gd fmla="val 26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5"/>
          <p:cNvSpPr/>
          <p:nvPr/>
        </p:nvSpPr>
        <p:spPr>
          <a:xfrm>
            <a:off x="1437368" y="2982015"/>
            <a:ext cx="7460583" cy="8665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Brand brief, logo, imagens e referência visual da Raiz Urbana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5"/>
          <p:cNvSpPr/>
          <p:nvPr/>
        </p:nvSpPr>
        <p:spPr>
          <a:xfrm>
            <a:off x="9258259" y="2668556"/>
            <a:ext cx="7962981" cy="1455404"/>
          </a:xfrm>
          <a:prstGeom prst="roundRect">
            <a:avLst>
              <a:gd fmla="val 261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5"/>
          <p:cNvSpPr/>
          <p:nvPr/>
        </p:nvSpPr>
        <p:spPr>
          <a:xfrm>
            <a:off x="9628868" y="2982015"/>
            <a:ext cx="7460652" cy="8665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Site final para a demonstração de abertura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5"/>
          <p:cNvSpPr/>
          <p:nvPr/>
        </p:nvSpPr>
        <p:spPr>
          <a:xfrm>
            <a:off x="1066759" y="4352546"/>
            <a:ext cx="7962913" cy="1041120"/>
          </a:xfrm>
          <a:prstGeom prst="roundRect">
            <a:avLst>
              <a:gd fmla="val 36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5"/>
          <p:cNvSpPr/>
          <p:nvPr/>
        </p:nvSpPr>
        <p:spPr>
          <a:xfrm>
            <a:off x="1437368" y="4666005"/>
            <a:ext cx="7460583" cy="4523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Scaffold do block theme e do plugin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5"/>
          <p:cNvSpPr/>
          <p:nvPr/>
        </p:nvSpPr>
        <p:spPr>
          <a:xfrm>
            <a:off x="9258259" y="4352546"/>
            <a:ext cx="7962981" cy="1041120"/>
          </a:xfrm>
          <a:prstGeom prst="roundRect">
            <a:avLst>
              <a:gd fmla="val 36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5"/>
          <p:cNvSpPr/>
          <p:nvPr/>
        </p:nvSpPr>
        <p:spPr>
          <a:xfrm>
            <a:off x="9628868" y="4666005"/>
            <a:ext cx="7460652" cy="4523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Sites WordPress.com descartáveis para Sync e MCP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5"/>
          <p:cNvSpPr/>
          <p:nvPr/>
        </p:nvSpPr>
        <p:spPr>
          <a:xfrm>
            <a:off x="1066759" y="5622253"/>
            <a:ext cx="7962913" cy="1041120"/>
          </a:xfrm>
          <a:prstGeom prst="roundRect">
            <a:avLst>
              <a:gd fmla="val 36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5"/>
          <p:cNvSpPr/>
          <p:nvPr/>
        </p:nvSpPr>
        <p:spPr>
          <a:xfrm>
            <a:off x="1437368" y="5935712"/>
            <a:ext cx="7460583" cy="4523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Origem autorizada e resultado pré-gerado do Liberate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5"/>
          <p:cNvSpPr/>
          <p:nvPr/>
        </p:nvSpPr>
        <p:spPr>
          <a:xfrm>
            <a:off x="9258259" y="5622253"/>
            <a:ext cx="7962981" cy="1041120"/>
          </a:xfrm>
          <a:prstGeom prst="roundRect">
            <a:avLst>
              <a:gd fmla="val 366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5"/>
          <p:cNvSpPr/>
          <p:nvPr/>
        </p:nvSpPr>
        <p:spPr>
          <a:xfrm>
            <a:off x="9628868" y="5935712"/>
            <a:ext cx="7460652" cy="4523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Cópia local dos assets, caso a rede do evento falhe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5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5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33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6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BASTIDORES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6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Checklist do instrutor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6"/>
          <p:cNvSpPr/>
          <p:nvPr/>
        </p:nvSpPr>
        <p:spPr>
          <a:xfrm>
            <a:off x="1066759" y="2630469"/>
            <a:ext cx="5181654" cy="3513967"/>
          </a:xfrm>
          <a:prstGeom prst="roundRect">
            <a:avLst>
              <a:gd fmla="val 10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6"/>
          <p:cNvSpPr/>
          <p:nvPr/>
        </p:nvSpPr>
        <p:spPr>
          <a:xfrm>
            <a:off x="1418264" y="2981974"/>
            <a:ext cx="492650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Uma semana antes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6"/>
          <p:cNvSpPr/>
          <p:nvPr/>
        </p:nvSpPr>
        <p:spPr>
          <a:xfrm>
            <a:off x="1418264" y="3478113"/>
            <a:ext cx="4613003" cy="23529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3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Atualizar o Studio nas máquinas de demo. Validar /annotate, /liberate, /preview, /need-for-speed e /publish. Ativar as skills Block Themes e Plugin Development. Preparar contas descartáveis.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6"/>
          <p:cNvSpPr/>
          <p:nvPr/>
        </p:nvSpPr>
        <p:spPr>
          <a:xfrm>
            <a:off x="6553173" y="2630469"/>
            <a:ext cx="5181654" cy="3513967"/>
          </a:xfrm>
          <a:prstGeom prst="roundRect">
            <a:avLst>
              <a:gd fmla="val 10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6"/>
          <p:cNvSpPr/>
          <p:nvPr/>
        </p:nvSpPr>
        <p:spPr>
          <a:xfrm>
            <a:off x="6904677" y="2981974"/>
            <a:ext cx="492650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Na véspera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6"/>
          <p:cNvSpPr/>
          <p:nvPr/>
        </p:nvSpPr>
        <p:spPr>
          <a:xfrm>
            <a:off x="6904677" y="3478113"/>
            <a:ext cx="4613003" cy="1967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3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Repetir o fluxo sem cache. Criar um Preview novo. Rodar Liberate e guardar o fallback. Confirmar writes do MCP desabilitados. Remover dados e senhas dos assets.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6"/>
          <p:cNvSpPr/>
          <p:nvPr/>
        </p:nvSpPr>
        <p:spPr>
          <a:xfrm>
            <a:off x="12039586" y="2630469"/>
            <a:ext cx="5181654" cy="3513967"/>
          </a:xfrm>
          <a:prstGeom prst="roundRect">
            <a:avLst>
              <a:gd fmla="val 10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6"/>
          <p:cNvSpPr/>
          <p:nvPr/>
        </p:nvSpPr>
        <p:spPr>
          <a:xfrm>
            <a:off x="12391091" y="2981974"/>
            <a:ext cx="492650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No início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6"/>
          <p:cNvSpPr/>
          <p:nvPr/>
        </p:nvSpPr>
        <p:spPr>
          <a:xfrm>
            <a:off x="12391091" y="3478113"/>
            <a:ext cx="4613003" cy="1967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30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Login e verificação do limite mensal. Confirmar a versão do Studio. Cada dupla roda uma tarefa read-only. Combinar o protocolo de permissões e escrita.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6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6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34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7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LEVE PARA A AGÊNCIA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7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 do workshop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7"/>
          <p:cNvSpPr/>
          <p:nvPr/>
        </p:nvSpPr>
        <p:spPr>
          <a:xfrm>
            <a:off x="1066759" y="2630469"/>
            <a:ext cx="78486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7"/>
          <p:cNvSpPr/>
          <p:nvPr/>
        </p:nvSpPr>
        <p:spPr>
          <a:xfrm>
            <a:off x="1066759" y="2829628"/>
            <a:ext cx="8084114" cy="8666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IA propõe e executa. A pessoa responde por escopo e aceitação.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7"/>
          <p:cNvSpPr/>
          <p:nvPr/>
        </p:nvSpPr>
        <p:spPr>
          <a:xfrm>
            <a:off x="9372586" y="2630469"/>
            <a:ext cx="78486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7"/>
          <p:cNvSpPr/>
          <p:nvPr/>
        </p:nvSpPr>
        <p:spPr>
          <a:xfrm>
            <a:off x="9372586" y="2829628"/>
            <a:ext cx="8084114" cy="8666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Pedir plano e critérios de aceite antes de implementações grandes.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7"/>
          <p:cNvSpPr/>
          <p:nvPr/>
        </p:nvSpPr>
        <p:spPr>
          <a:xfrm>
            <a:off x="1066759" y="3848695"/>
            <a:ext cx="78486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7"/>
          <p:cNvSpPr/>
          <p:nvPr/>
        </p:nvSpPr>
        <p:spPr>
          <a:xfrm>
            <a:off x="1066759" y="4047854"/>
            <a:ext cx="8084114" cy="452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Revisar diffs, screenshots, logs e saída de ferramentas.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7"/>
          <p:cNvSpPr/>
          <p:nvPr/>
        </p:nvSpPr>
        <p:spPr>
          <a:xfrm>
            <a:off x="9372586" y="3848695"/>
            <a:ext cx="78486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7"/>
          <p:cNvSpPr/>
          <p:nvPr/>
        </p:nvSpPr>
        <p:spPr>
          <a:xfrm>
            <a:off x="9372586" y="4047854"/>
            <a:ext cx="8084114" cy="452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Produção fica fora dos exercícios.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7"/>
          <p:cNvSpPr/>
          <p:nvPr/>
        </p:nvSpPr>
        <p:spPr>
          <a:xfrm>
            <a:off x="1066759" y="4652638"/>
            <a:ext cx="78486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7"/>
          <p:cNvSpPr/>
          <p:nvPr/>
        </p:nvSpPr>
        <p:spPr>
          <a:xfrm>
            <a:off x="1066759" y="4851797"/>
            <a:ext cx="8084114" cy="452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Preview é público. Sync é substituição, não merge.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7"/>
          <p:cNvSpPr/>
          <p:nvPr/>
        </p:nvSpPr>
        <p:spPr>
          <a:xfrm>
            <a:off x="9372586" y="4652638"/>
            <a:ext cx="78486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7"/>
          <p:cNvSpPr/>
          <p:nvPr/>
        </p:nvSpPr>
        <p:spPr>
          <a:xfrm>
            <a:off x="9372586" y="4851797"/>
            <a:ext cx="8084114" cy="452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Banco de produção não entra em Push.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7"/>
          <p:cNvSpPr/>
          <p:nvPr/>
        </p:nvSpPr>
        <p:spPr>
          <a:xfrm>
            <a:off x="1066759" y="5456580"/>
            <a:ext cx="78486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7"/>
          <p:cNvSpPr/>
          <p:nvPr/>
        </p:nvSpPr>
        <p:spPr>
          <a:xfrm>
            <a:off x="1066759" y="5655739"/>
            <a:ext cx="8084114" cy="452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começa read-only; liberar só a escrita necessária.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7"/>
          <p:cNvSpPr/>
          <p:nvPr/>
        </p:nvSpPr>
        <p:spPr>
          <a:xfrm>
            <a:off x="9372586" y="5456580"/>
            <a:ext cx="784865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7"/>
          <p:cNvSpPr/>
          <p:nvPr/>
        </p:nvSpPr>
        <p:spPr>
          <a:xfrm>
            <a:off x="9372586" y="5655739"/>
            <a:ext cx="8084114" cy="4523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Conteúdo nasce em draft e é revisado no WP Admin.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7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7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8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HONESTIDADE TÉCNICA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8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O que não afirmar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8"/>
          <p:cNvSpPr/>
          <p:nvPr/>
        </p:nvSpPr>
        <p:spPr>
          <a:xfrm>
            <a:off x="1066759" y="2643458"/>
            <a:ext cx="571459" cy="406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×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8"/>
          <p:cNvSpPr/>
          <p:nvPr/>
        </p:nvSpPr>
        <p:spPr>
          <a:xfrm>
            <a:off x="1790605" y="2630469"/>
            <a:ext cx="169736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Que o Studio Code é ilimitado durante o beta.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8"/>
          <p:cNvSpPr/>
          <p:nvPr/>
        </p:nvSpPr>
        <p:spPr>
          <a:xfrm>
            <a:off x="1066759" y="3214890"/>
            <a:ext cx="571459" cy="406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×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8"/>
          <p:cNvSpPr/>
          <p:nvPr/>
        </p:nvSpPr>
        <p:spPr>
          <a:xfrm>
            <a:off x="1790605" y="3201902"/>
            <a:ext cx="169736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Que o modelo é o especialista em WordPress — a especialização vem das tools, instruções e Agent Skills.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8"/>
          <p:cNvSpPr/>
          <p:nvPr/>
        </p:nvSpPr>
        <p:spPr>
          <a:xfrm>
            <a:off x="1066759" y="3786323"/>
            <a:ext cx="571459" cy="406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×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8"/>
          <p:cNvSpPr/>
          <p:nvPr/>
        </p:nvSpPr>
        <p:spPr>
          <a:xfrm>
            <a:off x="1790605" y="3773334"/>
            <a:ext cx="169736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Que o Preview é privado ou permanente.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8"/>
          <p:cNvSpPr/>
          <p:nvPr/>
        </p:nvSpPr>
        <p:spPr>
          <a:xfrm>
            <a:off x="1066759" y="4357755"/>
            <a:ext cx="571459" cy="406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×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8"/>
          <p:cNvSpPr/>
          <p:nvPr/>
        </p:nvSpPr>
        <p:spPr>
          <a:xfrm>
            <a:off x="1790605" y="4344766"/>
            <a:ext cx="169736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Que o Sync faz merge de conteúdo ou banco.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8"/>
          <p:cNvSpPr/>
          <p:nvPr/>
        </p:nvSpPr>
        <p:spPr>
          <a:xfrm>
            <a:off x="1066759" y="4929188"/>
            <a:ext cx="571459" cy="406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×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8"/>
          <p:cNvSpPr/>
          <p:nvPr/>
        </p:nvSpPr>
        <p:spPr>
          <a:xfrm>
            <a:off x="1790605" y="4916199"/>
            <a:ext cx="169736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Que Push com database é seguro em WooCommerce.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8"/>
          <p:cNvSpPr/>
          <p:nvPr/>
        </p:nvSpPr>
        <p:spPr>
          <a:xfrm>
            <a:off x="1066759" y="5500619"/>
            <a:ext cx="571459" cy="406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×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8"/>
          <p:cNvSpPr/>
          <p:nvPr/>
        </p:nvSpPr>
        <p:spPr>
          <a:xfrm>
            <a:off x="1790605" y="5487631"/>
            <a:ext cx="169736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Que o Liberate garante réplica perfeita de qualquer plataforma.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8"/>
          <p:cNvSpPr/>
          <p:nvPr/>
        </p:nvSpPr>
        <p:spPr>
          <a:xfrm>
            <a:off x="1066759" y="6072052"/>
            <a:ext cx="571459" cy="406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×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8"/>
          <p:cNvSpPr/>
          <p:nvPr/>
        </p:nvSpPr>
        <p:spPr>
          <a:xfrm>
            <a:off x="1790605" y="6059063"/>
            <a:ext cx="169736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Que o MCP escreve sem confirmação explícita.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8"/>
          <p:cNvSpPr/>
          <p:nvPr/>
        </p:nvSpPr>
        <p:spPr>
          <a:xfrm>
            <a:off x="1066759" y="6643485"/>
            <a:ext cx="571459" cy="4061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×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8"/>
          <p:cNvSpPr/>
          <p:nvPr/>
        </p:nvSpPr>
        <p:spPr>
          <a:xfrm>
            <a:off x="1790605" y="6630496"/>
            <a:ext cx="16973698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Que a lista de modelos e slash commands ficará fixa.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8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8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36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39"/>
          <p:cNvSpPr/>
          <p:nvPr/>
        </p:nvSpPr>
        <p:spPr>
          <a:xfrm>
            <a:off x="1066759" y="914346"/>
            <a:ext cx="17769928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FECHAMENTO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9"/>
          <p:cNvSpPr/>
          <p:nvPr/>
        </p:nvSpPr>
        <p:spPr>
          <a:xfrm>
            <a:off x="1066759" y="1429562"/>
            <a:ext cx="17769928" cy="81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542"/>
              </a:lnSpc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3858E9"/>
                </a:solidFill>
                <a:latin typeface="Arial"/>
                <a:ea typeface="Arial"/>
                <a:cs typeface="Arial"/>
                <a:sym typeface="Arial"/>
              </a:rPr>
              <a:t>Critérios de sucesso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9"/>
          <p:cNvSpPr/>
          <p:nvPr/>
        </p:nvSpPr>
        <p:spPr>
          <a:xfrm>
            <a:off x="1066759" y="2401883"/>
            <a:ext cx="17769928" cy="4914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767"/>
              </a:lnSpc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Sua dupla consegue explicar e demonstrar: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9"/>
          <p:cNvSpPr/>
          <p:nvPr/>
        </p:nvSpPr>
        <p:spPr>
          <a:xfrm>
            <a:off x="1066759" y="3236200"/>
            <a:ext cx="78486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9"/>
          <p:cNvSpPr/>
          <p:nvPr/>
        </p:nvSpPr>
        <p:spPr>
          <a:xfrm>
            <a:off x="1066759" y="3465666"/>
            <a:ext cx="571459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9"/>
          <p:cNvSpPr/>
          <p:nvPr/>
        </p:nvSpPr>
        <p:spPr>
          <a:xfrm>
            <a:off x="1790605" y="3435359"/>
            <a:ext cx="7837289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 que deve permanecer local durante a construção.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9"/>
          <p:cNvSpPr/>
          <p:nvPr/>
        </p:nvSpPr>
        <p:spPr>
          <a:xfrm>
            <a:off x="9372586" y="3236200"/>
            <a:ext cx="78486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9"/>
          <p:cNvSpPr/>
          <p:nvPr/>
        </p:nvSpPr>
        <p:spPr>
          <a:xfrm>
            <a:off x="9372586" y="3465666"/>
            <a:ext cx="571459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9"/>
          <p:cNvSpPr/>
          <p:nvPr/>
        </p:nvSpPr>
        <p:spPr>
          <a:xfrm>
            <a:off x="10096433" y="3435359"/>
            <a:ext cx="7837289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Como pedir, revisar e validar uma alteração do agente.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9"/>
          <p:cNvSpPr/>
          <p:nvPr/>
        </p:nvSpPr>
        <p:spPr>
          <a:xfrm>
            <a:off x="1066759" y="4025868"/>
            <a:ext cx="78486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9"/>
          <p:cNvSpPr/>
          <p:nvPr/>
        </p:nvSpPr>
        <p:spPr>
          <a:xfrm>
            <a:off x="1066759" y="4255334"/>
            <a:ext cx="571459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9"/>
          <p:cNvSpPr/>
          <p:nvPr/>
        </p:nvSpPr>
        <p:spPr>
          <a:xfrm>
            <a:off x="1790605" y="4225027"/>
            <a:ext cx="7837289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Quando usar Preview e quando usar Sync.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9"/>
          <p:cNvSpPr/>
          <p:nvPr/>
        </p:nvSpPr>
        <p:spPr>
          <a:xfrm>
            <a:off x="9372586" y="4025868"/>
            <a:ext cx="78486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9"/>
          <p:cNvSpPr/>
          <p:nvPr/>
        </p:nvSpPr>
        <p:spPr>
          <a:xfrm>
            <a:off x="9372586" y="4255334"/>
            <a:ext cx="571459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9"/>
          <p:cNvSpPr/>
          <p:nvPr/>
        </p:nvSpPr>
        <p:spPr>
          <a:xfrm>
            <a:off x="10096433" y="4225027"/>
            <a:ext cx="7837289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Por que Push seletivo sem database é o padrão seguro.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9"/>
          <p:cNvSpPr/>
          <p:nvPr/>
        </p:nvSpPr>
        <p:spPr>
          <a:xfrm>
            <a:off x="1066759" y="4815537"/>
            <a:ext cx="78486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9"/>
          <p:cNvSpPr/>
          <p:nvPr/>
        </p:nvSpPr>
        <p:spPr>
          <a:xfrm>
            <a:off x="1066759" y="5045003"/>
            <a:ext cx="571459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9"/>
          <p:cNvSpPr/>
          <p:nvPr/>
        </p:nvSpPr>
        <p:spPr>
          <a:xfrm>
            <a:off x="1790605" y="5014696"/>
            <a:ext cx="7338552" cy="83811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diferença entre Studio Code, Studio MCP e WordPress.com MCP.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9"/>
          <p:cNvSpPr/>
          <p:nvPr/>
        </p:nvSpPr>
        <p:spPr>
          <a:xfrm>
            <a:off x="9372586" y="4815537"/>
            <a:ext cx="78486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9"/>
          <p:cNvSpPr/>
          <p:nvPr/>
        </p:nvSpPr>
        <p:spPr>
          <a:xfrm>
            <a:off x="9372586" y="5045003"/>
            <a:ext cx="571459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58E9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3858E9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9"/>
          <p:cNvSpPr/>
          <p:nvPr/>
        </p:nvSpPr>
        <p:spPr>
          <a:xfrm>
            <a:off x="10096433" y="5014696"/>
            <a:ext cx="7837289" cy="438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Onde a revisão humana é obrigatória.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9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9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37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0"/>
          <p:cNvSpPr/>
          <p:nvPr/>
        </p:nvSpPr>
        <p:spPr>
          <a:xfrm>
            <a:off x="1066759" y="3949763"/>
            <a:ext cx="8465864" cy="3628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57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97757"/>
                </a:solidFill>
                <a:latin typeface="Courier New"/>
                <a:ea typeface="Courier New"/>
                <a:cs typeface="Courier New"/>
                <a:sym typeface="Courier New"/>
              </a:rPr>
              <a:t>ESTA SEMANA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0"/>
          <p:cNvSpPr/>
          <p:nvPr/>
        </p:nvSpPr>
        <p:spPr>
          <a:xfrm>
            <a:off x="1066759" y="4579238"/>
            <a:ext cx="8465864" cy="8781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5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Próximos passos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0"/>
          <p:cNvSpPr/>
          <p:nvPr/>
        </p:nvSpPr>
        <p:spPr>
          <a:xfrm>
            <a:off x="1066759" y="5724065"/>
            <a:ext cx="1821582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Fellyph Cintra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0"/>
          <p:cNvSpPr/>
          <p:nvPr/>
        </p:nvSpPr>
        <p:spPr>
          <a:xfrm>
            <a:off x="2913243" y="5849621"/>
            <a:ext cx="95250" cy="95250"/>
          </a:xfrm>
          <a:prstGeom prst="ellipse">
            <a:avLst/>
          </a:prstGeom>
          <a:solidFill>
            <a:srgbClr val="3858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40"/>
          <p:cNvSpPr/>
          <p:nvPr/>
        </p:nvSpPr>
        <p:spPr>
          <a:xfrm>
            <a:off x="3198993" y="5724065"/>
            <a:ext cx="1873225" cy="38446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fellyph.com.br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0"/>
          <p:cNvSpPr/>
          <p:nvPr/>
        </p:nvSpPr>
        <p:spPr>
          <a:xfrm>
            <a:off x="9524999" y="1924212"/>
            <a:ext cx="7696240" cy="1400067"/>
          </a:xfrm>
          <a:prstGeom prst="roundRect">
            <a:avLst>
              <a:gd fmla="val 8164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40"/>
          <p:cNvSpPr/>
          <p:nvPr/>
        </p:nvSpPr>
        <p:spPr>
          <a:xfrm>
            <a:off x="9867899" y="2209962"/>
            <a:ext cx="7241327" cy="8666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Escolher um projeto real da agência e recriá-lo localmente no Studio.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40"/>
          <p:cNvSpPr/>
          <p:nvPr/>
        </p:nvSpPr>
        <p:spPr>
          <a:xfrm>
            <a:off x="9524999" y="3514779"/>
            <a:ext cx="7696240" cy="1400067"/>
          </a:xfrm>
          <a:prstGeom prst="roundRect">
            <a:avLst>
              <a:gd fmla="val 8164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40"/>
          <p:cNvSpPr/>
          <p:nvPr/>
        </p:nvSpPr>
        <p:spPr>
          <a:xfrm>
            <a:off x="9867899" y="3800529"/>
            <a:ext cx="7241327" cy="8666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Rodar uma rodada de Annotate com um cliente de verdade via Preview.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0"/>
          <p:cNvSpPr/>
          <p:nvPr/>
        </p:nvSpPr>
        <p:spPr>
          <a:xfrm>
            <a:off x="9524999" y="5105346"/>
            <a:ext cx="7696240" cy="1400067"/>
          </a:xfrm>
          <a:prstGeom prst="roundRect">
            <a:avLst>
              <a:gd fmla="val 8164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40"/>
          <p:cNvSpPr/>
          <p:nvPr/>
        </p:nvSpPr>
        <p:spPr>
          <a:xfrm>
            <a:off x="9867899" y="5391096"/>
            <a:ext cx="7241327" cy="8666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Escrever o plano de Sync do time e colocá-lo no repositório.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0"/>
          <p:cNvSpPr/>
          <p:nvPr/>
        </p:nvSpPr>
        <p:spPr>
          <a:xfrm>
            <a:off x="9524999" y="6695912"/>
            <a:ext cx="7696240" cy="1400067"/>
          </a:xfrm>
          <a:prstGeom prst="roundRect">
            <a:avLst>
              <a:gd fmla="val 8164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40"/>
          <p:cNvSpPr/>
          <p:nvPr/>
        </p:nvSpPr>
        <p:spPr>
          <a:xfrm>
            <a:off x="9867899" y="6981662"/>
            <a:ext cx="7241327" cy="8666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Handout com prompts completos, checklists e referências oficiais.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40"/>
          <p:cNvSpPr/>
          <p:nvPr/>
        </p:nvSpPr>
        <p:spPr>
          <a:xfrm>
            <a:off x="1066759" y="9649745"/>
            <a:ext cx="3701504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Studio · Fellyph Cintra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0"/>
          <p:cNvSpPr/>
          <p:nvPr/>
        </p:nvSpPr>
        <p:spPr>
          <a:xfrm>
            <a:off x="16928590" y="9649745"/>
            <a:ext cx="368850" cy="33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